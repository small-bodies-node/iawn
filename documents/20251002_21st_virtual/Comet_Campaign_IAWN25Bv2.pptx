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8" r:id="rId5"/>
    <p:sldId id="449" r:id="rId6"/>
    <p:sldId id="448" r:id="rId7"/>
    <p:sldId id="283" r:id="rId8"/>
    <p:sldId id="277" r:id="rId9"/>
    <p:sldId id="278" r:id="rId10"/>
    <p:sldId id="279" r:id="rId11"/>
    <p:sldId id="281" r:id="rId12"/>
    <p:sldId id="280" r:id="rId13"/>
    <p:sldId id="451" r:id="rId14"/>
    <p:sldId id="452" r:id="rId15"/>
    <p:sldId id="276"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70"/>
    <p:restoredTop sz="94694"/>
  </p:normalViewPr>
  <p:slideViewPr>
    <p:cSldViewPr snapToGrid="0">
      <p:cViewPr>
        <p:scale>
          <a:sx n="84" d="100"/>
          <a:sy n="84" d="100"/>
        </p:scale>
        <p:origin x="2744"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40758-FCD1-7B02-4E02-F0A74A77B1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F7423C-B9D7-72DE-6F93-7972E02887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7B215F-EF0F-2510-A46E-887720DD1F38}"/>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5" name="Footer Placeholder 4">
            <a:extLst>
              <a:ext uri="{FF2B5EF4-FFF2-40B4-BE49-F238E27FC236}">
                <a16:creationId xmlns:a16="http://schemas.microsoft.com/office/drawing/2014/main" id="{D09BC74E-65FD-9F46-1058-F4BFEC1E0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11D9DE-72F3-3EB3-4C9E-8330F76BE556}"/>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1956561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DFD6-E3FD-38A8-754C-1D24F2B4AC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4901C6-479D-E3B9-AEE8-101F0AE052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FCFFD2-B0A1-2483-5DDD-D9C571F25C5E}"/>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5" name="Footer Placeholder 4">
            <a:extLst>
              <a:ext uri="{FF2B5EF4-FFF2-40B4-BE49-F238E27FC236}">
                <a16:creationId xmlns:a16="http://schemas.microsoft.com/office/drawing/2014/main" id="{DA29FA33-F029-CC76-1B57-3A44A724B4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10764-C273-FBC8-FBE0-D6992B1E3CED}"/>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174162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D57F9-CB9F-9B92-4467-E26286EA41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21AA93-1977-6702-D2CF-D5BEF700DE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BE0289-A254-25DB-5D13-ACADCCA75D71}"/>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5" name="Footer Placeholder 4">
            <a:extLst>
              <a:ext uri="{FF2B5EF4-FFF2-40B4-BE49-F238E27FC236}">
                <a16:creationId xmlns:a16="http://schemas.microsoft.com/office/drawing/2014/main" id="{553C0D1D-07F8-49F8-CF6B-BFE20B5290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F8880-F525-EF13-1217-FE0847AF6BF5}"/>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1463902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FABB7-C774-B776-607B-61B9965211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02617D-9594-DEAD-F47A-0077EABBF4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A84D31-8361-8CD4-3E9A-E8D3E0745E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4D1DEB-C787-7BCA-DDDB-AF43FD1DA36C}"/>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6" name="Footer Placeholder 5">
            <a:extLst>
              <a:ext uri="{FF2B5EF4-FFF2-40B4-BE49-F238E27FC236}">
                <a16:creationId xmlns:a16="http://schemas.microsoft.com/office/drawing/2014/main" id="{F52CA0DE-1D99-F49B-2C7D-7F33A9F4F1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7FBDF4-A8AE-FADB-FAAA-5123F438C2F0}"/>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1303031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9F3E0-3AD7-3EA6-60B6-88D7B4FCA0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1E83D2-07D5-57D8-215A-F7121C7D85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A966B2-F1B9-B8FE-2F00-9FAA479720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626288-31C6-03A8-BAF9-A038FE0541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54CAD3-8706-0638-BFDB-57710591FD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7E512B-9DC2-B97A-6FD3-68E1AD139A61}"/>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8" name="Footer Placeholder 7">
            <a:extLst>
              <a:ext uri="{FF2B5EF4-FFF2-40B4-BE49-F238E27FC236}">
                <a16:creationId xmlns:a16="http://schemas.microsoft.com/office/drawing/2014/main" id="{65B9C489-E0D0-6807-FBC9-0436F1AAA6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3E0884-A1AD-3599-EA0B-546808864D9C}"/>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3661697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4264E-4E84-F7A5-9285-3E938A9A28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056861-EBF1-06AA-968B-A952D641AD13}"/>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4" name="Footer Placeholder 3">
            <a:extLst>
              <a:ext uri="{FF2B5EF4-FFF2-40B4-BE49-F238E27FC236}">
                <a16:creationId xmlns:a16="http://schemas.microsoft.com/office/drawing/2014/main" id="{3536F1E1-1509-F9B9-8E49-7F96A3FAAA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10EE69-EA38-A320-D2DD-26B6CC25F2CA}"/>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3838282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F017BF-58D6-48CA-7FE0-119BFC280D0E}"/>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3" name="Footer Placeholder 2">
            <a:extLst>
              <a:ext uri="{FF2B5EF4-FFF2-40B4-BE49-F238E27FC236}">
                <a16:creationId xmlns:a16="http://schemas.microsoft.com/office/drawing/2014/main" id="{BDFEA8FE-7D99-61F9-05E3-45D845C420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F5E01B-3ACE-8C77-FEF1-566AEE52DE35}"/>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276605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1127-CB0F-FCD0-ED6D-E453B53BAF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737D16-0E20-CF13-87AC-02AB1000C7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E94FAA-54B4-5069-0429-94EBAF379A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B05DDB-81ED-79CB-AF36-10AF6EBEDCFC}"/>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6" name="Footer Placeholder 5">
            <a:extLst>
              <a:ext uri="{FF2B5EF4-FFF2-40B4-BE49-F238E27FC236}">
                <a16:creationId xmlns:a16="http://schemas.microsoft.com/office/drawing/2014/main" id="{7676336A-3CEA-D7B3-7EB7-4DD7E203E9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1F493C-0F06-4656-3952-C0E434F87E86}"/>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4173173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0169F-8D87-E136-9B84-4E3DAA27D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FDF98C-F6F8-2F59-6027-DE5C005DFB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926008-5588-1F08-4D82-179ACA70D5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C89C03-615F-A085-818F-D40DA08003DD}"/>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6" name="Footer Placeholder 5">
            <a:extLst>
              <a:ext uri="{FF2B5EF4-FFF2-40B4-BE49-F238E27FC236}">
                <a16:creationId xmlns:a16="http://schemas.microsoft.com/office/drawing/2014/main" id="{FF24E323-7D49-A5BC-9EAB-B4B4499615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DE4BCF-C508-617D-2AE5-ACA9BEACB6C6}"/>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391464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4463D-3568-BB6C-996D-257C480C12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254E23-A011-04D1-94C1-93A87DEFA8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55820F-8E08-608C-59B6-27EF8EAC96E3}"/>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5" name="Footer Placeholder 4">
            <a:extLst>
              <a:ext uri="{FF2B5EF4-FFF2-40B4-BE49-F238E27FC236}">
                <a16:creationId xmlns:a16="http://schemas.microsoft.com/office/drawing/2014/main" id="{02BCD220-9868-26B0-C020-3EE6D2DBD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CF5D67-4DBF-8F0C-1C2D-25C11042BC1E}"/>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424431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7AF752-32A9-A910-FDE9-490369BF38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1AB28D-4827-BEC1-68BC-36C721A735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C17AF2-F633-B791-D2FB-2DAC41C3B24D}"/>
              </a:ext>
            </a:extLst>
          </p:cNvPr>
          <p:cNvSpPr>
            <a:spLocks noGrp="1"/>
          </p:cNvSpPr>
          <p:nvPr>
            <p:ph type="dt" sz="half" idx="10"/>
          </p:nvPr>
        </p:nvSpPr>
        <p:spPr/>
        <p:txBody>
          <a:bodyPr/>
          <a:lstStyle/>
          <a:p>
            <a:fld id="{39D874D2-53BC-D74F-861A-CB0EE38593E2}" type="datetimeFigureOut">
              <a:rPr lang="en-US" smtClean="0"/>
              <a:t>9/30/25</a:t>
            </a:fld>
            <a:endParaRPr lang="en-US"/>
          </a:p>
        </p:txBody>
      </p:sp>
      <p:sp>
        <p:nvSpPr>
          <p:cNvPr id="5" name="Footer Placeholder 4">
            <a:extLst>
              <a:ext uri="{FF2B5EF4-FFF2-40B4-BE49-F238E27FC236}">
                <a16:creationId xmlns:a16="http://schemas.microsoft.com/office/drawing/2014/main" id="{1FAAEE81-94D3-1019-B5FD-199E7F535C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0690E4-4F6E-4083-703A-05A8C3FB7534}"/>
              </a:ext>
            </a:extLst>
          </p:cNvPr>
          <p:cNvSpPr>
            <a:spLocks noGrp="1"/>
          </p:cNvSpPr>
          <p:nvPr>
            <p:ph type="sldNum" sz="quarter" idx="12"/>
          </p:nvPr>
        </p:nvSpPr>
        <p:spPr/>
        <p:txBody>
          <a:bodyPr/>
          <a:lstStyle/>
          <a:p>
            <a:fld id="{AC8F29C9-08C8-C84A-BDBB-C326A1D9FFB4}" type="slidenum">
              <a:rPr lang="en-US" smtClean="0"/>
              <a:t>‹#›</a:t>
            </a:fld>
            <a:endParaRPr lang="en-US"/>
          </a:p>
        </p:txBody>
      </p:sp>
    </p:spTree>
    <p:extLst>
      <p:ext uri="{BB962C8B-B14F-4D97-AF65-F5344CB8AC3E}">
        <p14:creationId xmlns:p14="http://schemas.microsoft.com/office/powerpoint/2010/main" val="301097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EEFF37-C769-5D6B-AEE7-B794E8D4C6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F39AE2-1433-7892-B564-0F140A18ED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8AF03E-2D85-E63D-3D19-84E181A262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D874D2-53BC-D74F-861A-CB0EE38593E2}" type="datetimeFigureOut">
              <a:rPr lang="en-US" smtClean="0"/>
              <a:t>9/30/25</a:t>
            </a:fld>
            <a:endParaRPr lang="en-US"/>
          </a:p>
        </p:txBody>
      </p:sp>
      <p:sp>
        <p:nvSpPr>
          <p:cNvPr id="5" name="Footer Placeholder 4">
            <a:extLst>
              <a:ext uri="{FF2B5EF4-FFF2-40B4-BE49-F238E27FC236}">
                <a16:creationId xmlns:a16="http://schemas.microsoft.com/office/drawing/2014/main" id="{31722C94-BC34-11A3-46A6-ADE7E3D80C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32F3FC-4EA3-69B2-86B9-EA5FD339C4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8F29C9-08C8-C84A-BDBB-C326A1D9FFB4}" type="slidenum">
              <a:rPr lang="en-US" smtClean="0"/>
              <a:t>‹#›</a:t>
            </a:fld>
            <a:endParaRPr lang="en-US"/>
          </a:p>
        </p:txBody>
      </p:sp>
    </p:spTree>
    <p:extLst>
      <p:ext uri="{BB962C8B-B14F-4D97-AF65-F5344CB8AC3E}">
        <p14:creationId xmlns:p14="http://schemas.microsoft.com/office/powerpoint/2010/main" val="4163173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572-C3F3-C5E7-01BA-FD045EF410E9}"/>
              </a:ext>
            </a:extLst>
          </p:cNvPr>
          <p:cNvSpPr>
            <a:spLocks noGrp="1"/>
          </p:cNvSpPr>
          <p:nvPr>
            <p:ph type="ctrTitle"/>
          </p:nvPr>
        </p:nvSpPr>
        <p:spPr/>
        <p:txBody>
          <a:bodyPr/>
          <a:lstStyle/>
          <a:p>
            <a:r>
              <a:rPr lang="en-US" dirty="0"/>
              <a:t>Comet Campaign Overview</a:t>
            </a:r>
          </a:p>
        </p:txBody>
      </p:sp>
      <p:sp>
        <p:nvSpPr>
          <p:cNvPr id="3" name="Subtitle 2">
            <a:extLst>
              <a:ext uri="{FF2B5EF4-FFF2-40B4-BE49-F238E27FC236}">
                <a16:creationId xmlns:a16="http://schemas.microsoft.com/office/drawing/2014/main" id="{6E2EF028-F16B-E320-7DA2-1A572D2F8EE1}"/>
              </a:ext>
            </a:extLst>
          </p:cNvPr>
          <p:cNvSpPr>
            <a:spLocks noGrp="1"/>
          </p:cNvSpPr>
          <p:nvPr>
            <p:ph type="subTitle" idx="1"/>
          </p:nvPr>
        </p:nvSpPr>
        <p:spPr/>
        <p:txBody>
          <a:bodyPr>
            <a:normAutofit fontScale="77500" lnSpcReduction="20000"/>
          </a:bodyPr>
          <a:lstStyle/>
          <a:p>
            <a:r>
              <a:rPr lang="en-US" dirty="0"/>
              <a:t>Dr. James Bauer, PDS SBN</a:t>
            </a:r>
          </a:p>
          <a:p>
            <a:r>
              <a:rPr lang="en-US" dirty="0"/>
              <a:t>Dr. Marco </a:t>
            </a:r>
            <a:r>
              <a:rPr lang="en-US" dirty="0" err="1"/>
              <a:t>Micheli</a:t>
            </a:r>
            <a:r>
              <a:rPr lang="en-US" dirty="0"/>
              <a:t>, ESA NEOCC</a:t>
            </a:r>
          </a:p>
          <a:p>
            <a:r>
              <a:rPr lang="en-US" dirty="0"/>
              <a:t>Dr. Vishnu Reddy, IAWN</a:t>
            </a:r>
          </a:p>
          <a:p>
            <a:r>
              <a:rPr lang="en-US" dirty="0"/>
              <a:t>Dr. Davide Farnocchia, JPL CNEOS</a:t>
            </a:r>
          </a:p>
          <a:p>
            <a:r>
              <a:rPr lang="en-US" dirty="0"/>
              <a:t>Dr. Ben Sharkey, PDS SBN</a:t>
            </a:r>
          </a:p>
        </p:txBody>
      </p:sp>
    </p:spTree>
    <p:extLst>
      <p:ext uri="{BB962C8B-B14F-4D97-AF65-F5344CB8AC3E}">
        <p14:creationId xmlns:p14="http://schemas.microsoft.com/office/powerpoint/2010/main" val="424012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B5366-9A75-83DE-40FA-C978C8324809}"/>
              </a:ext>
            </a:extLst>
          </p:cNvPr>
          <p:cNvSpPr>
            <a:spLocks noGrp="1"/>
          </p:cNvSpPr>
          <p:nvPr>
            <p:ph type="title"/>
          </p:nvPr>
        </p:nvSpPr>
        <p:spPr>
          <a:xfrm>
            <a:off x="323850" y="218280"/>
            <a:ext cx="10515600" cy="1035050"/>
          </a:xfrm>
        </p:spPr>
        <p:txBody>
          <a:bodyPr/>
          <a:lstStyle/>
          <a:p>
            <a:r>
              <a:rPr lang="en-US" dirty="0"/>
              <a:t>Campaign Rationale</a:t>
            </a:r>
          </a:p>
        </p:txBody>
      </p:sp>
      <p:sp>
        <p:nvSpPr>
          <p:cNvPr id="3" name="Content Placeholder 2">
            <a:extLst>
              <a:ext uri="{FF2B5EF4-FFF2-40B4-BE49-F238E27FC236}">
                <a16:creationId xmlns:a16="http://schemas.microsoft.com/office/drawing/2014/main" id="{9B3BEBA5-FC48-CF25-96C2-6B1299E8A652}"/>
              </a:ext>
            </a:extLst>
          </p:cNvPr>
          <p:cNvSpPr>
            <a:spLocks noGrp="1"/>
          </p:cNvSpPr>
          <p:nvPr>
            <p:ph idx="1"/>
          </p:nvPr>
        </p:nvSpPr>
        <p:spPr>
          <a:xfrm>
            <a:off x="323850" y="1074737"/>
            <a:ext cx="11291888" cy="5090319"/>
          </a:xfrm>
        </p:spPr>
        <p:txBody>
          <a:bodyPr>
            <a:normAutofit/>
          </a:bodyPr>
          <a:lstStyle/>
          <a:p>
            <a:r>
              <a:rPr lang="en-US" sz="2400" dirty="0"/>
              <a:t>Comets present unique challenges for accurate astrometric measurements and orbit predictions. Cometary bodies are extended with morphological features (comae and tails) that can systematically pull their centroid measurements off their central brightness peak. The resulting observational biases and nongravitational perturbations make it challenging to accurately and reliably estimate comet trajectories. </a:t>
            </a:r>
          </a:p>
          <a:p>
            <a:endParaRPr lang="en-US" sz="2400" dirty="0"/>
          </a:p>
          <a:p>
            <a:r>
              <a:rPr lang="en-US" sz="2400" dirty="0"/>
              <a:t>A comet can present an impact hazard which we must be ready to characterize in a timely manner. This campaign targets comet 3I/ATLAS (C/2025 N1) to exercise the capability of the observing community to extract accurate astrometry. The observing windows for the target is from November 27, 2025, to January 27, 2025. To prepare for the campaign, we will hold a workshop on techniques to correctly measure comet astrometry. </a:t>
            </a:r>
          </a:p>
        </p:txBody>
      </p:sp>
    </p:spTree>
    <p:extLst>
      <p:ext uri="{BB962C8B-B14F-4D97-AF65-F5344CB8AC3E}">
        <p14:creationId xmlns:p14="http://schemas.microsoft.com/office/powerpoint/2010/main" val="2290093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3F608-B8B3-458D-06DB-AD4BA909A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5F46F-1938-FAC5-1320-301327C9C5DA}"/>
              </a:ext>
            </a:extLst>
          </p:cNvPr>
          <p:cNvSpPr>
            <a:spLocks noGrp="1"/>
          </p:cNvSpPr>
          <p:nvPr>
            <p:ph type="title"/>
          </p:nvPr>
        </p:nvSpPr>
        <p:spPr>
          <a:xfrm>
            <a:off x="323850" y="218280"/>
            <a:ext cx="10515600" cy="1035050"/>
          </a:xfrm>
        </p:spPr>
        <p:txBody>
          <a:bodyPr/>
          <a:lstStyle/>
          <a:p>
            <a:r>
              <a:rPr lang="en-US" dirty="0"/>
              <a:t>Comet Campaign Timeline</a:t>
            </a:r>
          </a:p>
        </p:txBody>
      </p:sp>
      <p:sp>
        <p:nvSpPr>
          <p:cNvPr id="3" name="Content Placeholder 2">
            <a:extLst>
              <a:ext uri="{FF2B5EF4-FFF2-40B4-BE49-F238E27FC236}">
                <a16:creationId xmlns:a16="http://schemas.microsoft.com/office/drawing/2014/main" id="{915A84CE-5372-A73B-B4BA-832693E8DC99}"/>
              </a:ext>
            </a:extLst>
          </p:cNvPr>
          <p:cNvSpPr>
            <a:spLocks noGrp="1"/>
          </p:cNvSpPr>
          <p:nvPr>
            <p:ph idx="1"/>
          </p:nvPr>
        </p:nvSpPr>
        <p:spPr>
          <a:xfrm>
            <a:off x="124178" y="1074737"/>
            <a:ext cx="11915422" cy="5090319"/>
          </a:xfrm>
        </p:spPr>
        <p:txBody>
          <a:bodyPr>
            <a:normAutofit/>
          </a:bodyPr>
          <a:lstStyle/>
          <a:p>
            <a:r>
              <a:rPr lang="en-US" b="1" dirty="0"/>
              <a:t>Comet Campaign </a:t>
            </a:r>
            <a:r>
              <a:rPr lang="en-US" b="1" u="sng" dirty="0"/>
              <a:t>Workshop</a:t>
            </a:r>
            <a:r>
              <a:rPr lang="en-US" b="1" dirty="0"/>
              <a:t>, </a:t>
            </a:r>
            <a:r>
              <a:rPr lang="en-US" b="1" u="sng" dirty="0"/>
              <a:t>Nov. 10</a:t>
            </a:r>
            <a:r>
              <a:rPr lang="en-US" b="1" dirty="0"/>
              <a:t>, 2025, 15:00 UTC </a:t>
            </a:r>
          </a:p>
          <a:p>
            <a:r>
              <a:rPr lang="en-US" b="1" dirty="0"/>
              <a:t>Campaign Kick Off: Nov. 25, 2025, 15:00 UTC (1 hour)</a:t>
            </a:r>
          </a:p>
          <a:p>
            <a:r>
              <a:rPr lang="en-US" dirty="0"/>
              <a:t>Observing Window Opens: November 27, 2025</a:t>
            </a:r>
          </a:p>
          <a:p>
            <a:r>
              <a:rPr lang="en-US" b="1" dirty="0"/>
              <a:t>Mid-Campaign Check-in Telecon: December 9, 2025, 15:00 UTC. </a:t>
            </a:r>
          </a:p>
          <a:p>
            <a:r>
              <a:rPr lang="en-US" dirty="0"/>
              <a:t>Observing Window Closes: January 27, 2026</a:t>
            </a:r>
            <a:endParaRPr lang="en-US" dirty="0">
              <a:solidFill>
                <a:srgbClr val="FF0000"/>
              </a:solidFill>
            </a:endParaRPr>
          </a:p>
          <a:p>
            <a:r>
              <a:rPr lang="en-US" b="1" dirty="0"/>
              <a:t>Close-out Telecon: February 3, 2026, 15:00 UTC.  </a:t>
            </a:r>
          </a:p>
          <a:p>
            <a:endParaRPr lang="en-US" dirty="0"/>
          </a:p>
          <a:p>
            <a:pPr marL="0" indent="0">
              <a:buNone/>
            </a:pPr>
            <a:r>
              <a:rPr lang="en-US" i="1" dirty="0"/>
              <a:t>* All meetings will be recorded and made available for those who can’t make it including any slides that are presented. </a:t>
            </a:r>
          </a:p>
        </p:txBody>
      </p:sp>
    </p:spTree>
    <p:extLst>
      <p:ext uri="{BB962C8B-B14F-4D97-AF65-F5344CB8AC3E}">
        <p14:creationId xmlns:p14="http://schemas.microsoft.com/office/powerpoint/2010/main" val="394202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DDC7C-2374-F4CE-4475-3A120BCB3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00172-AE77-ADD6-F8C5-675BED9D4E9E}"/>
              </a:ext>
            </a:extLst>
          </p:cNvPr>
          <p:cNvSpPr>
            <a:spLocks noGrp="1"/>
          </p:cNvSpPr>
          <p:nvPr>
            <p:ph type="title"/>
          </p:nvPr>
        </p:nvSpPr>
        <p:spPr>
          <a:xfrm>
            <a:off x="323850" y="218280"/>
            <a:ext cx="10515600" cy="1035050"/>
          </a:xfrm>
        </p:spPr>
        <p:txBody>
          <a:bodyPr/>
          <a:lstStyle/>
          <a:p>
            <a:r>
              <a:rPr lang="en-US" dirty="0"/>
              <a:t>Process</a:t>
            </a:r>
          </a:p>
        </p:txBody>
      </p:sp>
      <p:sp>
        <p:nvSpPr>
          <p:cNvPr id="3" name="Content Placeholder 2">
            <a:extLst>
              <a:ext uri="{FF2B5EF4-FFF2-40B4-BE49-F238E27FC236}">
                <a16:creationId xmlns:a16="http://schemas.microsoft.com/office/drawing/2014/main" id="{59863536-D5F3-A255-BA23-C7959F7CF1AD}"/>
              </a:ext>
            </a:extLst>
          </p:cNvPr>
          <p:cNvSpPr>
            <a:spLocks noGrp="1"/>
          </p:cNvSpPr>
          <p:nvPr>
            <p:ph idx="1"/>
          </p:nvPr>
        </p:nvSpPr>
        <p:spPr>
          <a:xfrm>
            <a:off x="323850" y="1074737"/>
            <a:ext cx="11291888" cy="5090319"/>
          </a:xfrm>
        </p:spPr>
        <p:txBody>
          <a:bodyPr>
            <a:normAutofit fontScale="92500" lnSpcReduction="10000"/>
          </a:bodyPr>
          <a:lstStyle/>
          <a:p>
            <a:r>
              <a:rPr lang="en-US" sz="2400" dirty="0"/>
              <a:t>We need to acquire ground-truth data from a large aperture (4 meter+) telescope on a night of good to excellent seeing (&lt;1 arc second). This data will serve as as a reference to evaluate the observations made during the campaign. The target for the ground truth observations will be 3I/ATLAS. </a:t>
            </a:r>
          </a:p>
          <a:p>
            <a:endParaRPr lang="en-US" sz="2400" dirty="0"/>
          </a:p>
          <a:p>
            <a:r>
              <a:rPr lang="en-US" sz="2400" dirty="0"/>
              <a:t>JPL/CNEOS will estimate orbit based on the ground truth data to assess the performance of the observations collected during the campaign. </a:t>
            </a:r>
          </a:p>
          <a:p>
            <a:endParaRPr lang="en-US" sz="2400" dirty="0"/>
          </a:p>
          <a:p>
            <a:r>
              <a:rPr lang="en-US" sz="2400" dirty="0"/>
              <a:t>The pre-campaign workshop will demonstrate this process and provide a list of best practices for comet astrometry to IAWN members. </a:t>
            </a:r>
          </a:p>
          <a:p>
            <a:endParaRPr lang="en-US" sz="2400" dirty="0"/>
          </a:p>
          <a:p>
            <a:r>
              <a:rPr lang="en-US" sz="2400" dirty="0"/>
              <a:t>During the campaign, observers will collect regular astrometric observations of one or both targets and submit them to the Minor Planet Center. No more than at most two </a:t>
            </a:r>
            <a:r>
              <a:rPr lang="en-US" sz="2400" dirty="0" err="1"/>
              <a:t>tracklets</a:t>
            </a:r>
            <a:r>
              <a:rPr lang="en-US" sz="2400" dirty="0"/>
              <a:t> over two separate nights are needed. The goal is not orbit improvement but assessment of astrometric quality of the submitted observations. </a:t>
            </a:r>
          </a:p>
        </p:txBody>
      </p:sp>
    </p:spTree>
    <p:extLst>
      <p:ext uri="{BB962C8B-B14F-4D97-AF65-F5344CB8AC3E}">
        <p14:creationId xmlns:p14="http://schemas.microsoft.com/office/powerpoint/2010/main" val="2110655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2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A57607-E88E-C246-96F8-99E373B1734C}"/>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3100" b="1" kern="1200" dirty="0">
                <a:solidFill>
                  <a:schemeClr val="tx1"/>
                </a:solidFill>
                <a:latin typeface="+mj-lt"/>
                <a:ea typeface="+mj-ea"/>
                <a:cs typeface="+mj-cs"/>
              </a:rPr>
              <a:t>Workshop for Comet Astrometry: </a:t>
            </a:r>
            <a:br>
              <a:rPr lang="en-US" sz="3100" kern="1200" dirty="0">
                <a:solidFill>
                  <a:schemeClr val="tx1"/>
                </a:solidFill>
                <a:latin typeface="+mj-lt"/>
                <a:ea typeface="+mj-ea"/>
                <a:cs typeface="+mj-cs"/>
              </a:rPr>
            </a:br>
            <a:r>
              <a:rPr lang="en-US" sz="3100" kern="1200" dirty="0">
                <a:solidFill>
                  <a:schemeClr val="tx1"/>
                </a:solidFill>
                <a:latin typeface="+mj-lt"/>
                <a:ea typeface="+mj-ea"/>
                <a:cs typeface="+mj-cs"/>
              </a:rPr>
              <a:t>Introduces Zero-aperture technique and use of extrapolation code.</a:t>
            </a:r>
          </a:p>
        </p:txBody>
      </p:sp>
      <p:sp>
        <p:nvSpPr>
          <p:cNvPr id="4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AAF5C4A-4E48-0C44-A34A-F7B3450B81BC}"/>
              </a:ext>
            </a:extLst>
          </p:cNvPr>
          <p:cNvPicPr>
            <a:picLocks noGrp="1" noChangeAspect="1"/>
          </p:cNvPicPr>
          <p:nvPr>
            <p:ph idx="1"/>
          </p:nvPr>
        </p:nvPicPr>
        <p:blipFill rotWithShape="1">
          <a:blip r:embed="rId2"/>
          <a:srcRect l="48984" r="10509"/>
          <a:stretch/>
        </p:blipFill>
        <p:spPr>
          <a:xfrm rot="5400000">
            <a:off x="7072560" y="1048947"/>
            <a:ext cx="2257572" cy="7214616"/>
          </a:xfrm>
          <a:prstGeom prst="rect">
            <a:avLst/>
          </a:prstGeom>
        </p:spPr>
      </p:pic>
      <p:pic>
        <p:nvPicPr>
          <p:cNvPr id="26" name="Content Placeholder 4">
            <a:extLst>
              <a:ext uri="{FF2B5EF4-FFF2-40B4-BE49-F238E27FC236}">
                <a16:creationId xmlns:a16="http://schemas.microsoft.com/office/drawing/2014/main" id="{4C57566C-4DB7-874E-B1AF-F63AE38002E6}"/>
              </a:ext>
            </a:extLst>
          </p:cNvPr>
          <p:cNvPicPr>
            <a:picLocks noChangeAspect="1"/>
          </p:cNvPicPr>
          <p:nvPr/>
        </p:nvPicPr>
        <p:blipFill rotWithShape="1">
          <a:blip r:embed="rId3"/>
          <a:srcRect l="20214" t="28342" r="23130" b="29380"/>
          <a:stretch/>
        </p:blipFill>
        <p:spPr>
          <a:xfrm>
            <a:off x="6215742" y="0"/>
            <a:ext cx="3320143" cy="3206310"/>
          </a:xfrm>
          <a:prstGeom prst="rect">
            <a:avLst/>
          </a:prstGeom>
        </p:spPr>
      </p:pic>
      <p:sp>
        <p:nvSpPr>
          <p:cNvPr id="6" name="TextBox 5">
            <a:extLst>
              <a:ext uri="{FF2B5EF4-FFF2-40B4-BE49-F238E27FC236}">
                <a16:creationId xmlns:a16="http://schemas.microsoft.com/office/drawing/2014/main" id="{E147DAD6-FA39-7248-AECA-AC9285804D4F}"/>
              </a:ext>
            </a:extLst>
          </p:cNvPr>
          <p:cNvSpPr txBox="1"/>
          <p:nvPr/>
        </p:nvSpPr>
        <p:spPr>
          <a:xfrm>
            <a:off x="7056121" y="2688771"/>
            <a:ext cx="2338252" cy="369332"/>
          </a:xfrm>
          <a:prstGeom prst="rect">
            <a:avLst/>
          </a:prstGeom>
          <a:noFill/>
        </p:spPr>
        <p:txBody>
          <a:bodyPr wrap="square" rtlCol="0">
            <a:spAutoFit/>
          </a:bodyPr>
          <a:lstStyle/>
          <a:p>
            <a:r>
              <a:rPr lang="en-US" b="1" dirty="0">
                <a:solidFill>
                  <a:srgbClr val="FFFF00"/>
                </a:solidFill>
                <a:latin typeface="Arial" panose="020B0604020202020204" pitchFamily="34" charset="0"/>
                <a:cs typeface="Arial" panose="020B0604020202020204" pitchFamily="34" charset="0"/>
              </a:rPr>
              <a:t>67P, Oct. 1 2015</a:t>
            </a:r>
          </a:p>
        </p:txBody>
      </p:sp>
      <p:sp>
        <p:nvSpPr>
          <p:cNvPr id="7" name="Oval 6">
            <a:extLst>
              <a:ext uri="{FF2B5EF4-FFF2-40B4-BE49-F238E27FC236}">
                <a16:creationId xmlns:a16="http://schemas.microsoft.com/office/drawing/2014/main" id="{F2D2DB0F-6930-8D4A-A364-6F4997DC1A5E}"/>
              </a:ext>
            </a:extLst>
          </p:cNvPr>
          <p:cNvSpPr>
            <a:spLocks noChangeAspect="1"/>
          </p:cNvSpPr>
          <p:nvPr/>
        </p:nvSpPr>
        <p:spPr>
          <a:xfrm>
            <a:off x="7769676" y="1469117"/>
            <a:ext cx="365760" cy="365760"/>
          </a:xfrm>
          <a:prstGeom prst="ellipse">
            <a:avLst/>
          </a:prstGeom>
          <a:noFill/>
          <a:ln w="9525">
            <a:solidFill>
              <a:schemeClr val="accent1">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599081D6-F6AB-B64B-8D81-DED7059A659A}"/>
              </a:ext>
            </a:extLst>
          </p:cNvPr>
          <p:cNvSpPr>
            <a:spLocks noChangeAspect="1"/>
          </p:cNvSpPr>
          <p:nvPr/>
        </p:nvSpPr>
        <p:spPr>
          <a:xfrm>
            <a:off x="7860052" y="1552302"/>
            <a:ext cx="182880" cy="182880"/>
          </a:xfrm>
          <a:prstGeom prst="ellipse">
            <a:avLst/>
          </a:prstGeom>
          <a:noFill/>
          <a:ln w="9525">
            <a:solidFill>
              <a:schemeClr val="accent1">
                <a:lumMod val="20000"/>
                <a:lumOff val="8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0AFAAEAB-1DBE-6D46-A426-20EA7B643323}"/>
              </a:ext>
            </a:extLst>
          </p:cNvPr>
          <p:cNvSpPr>
            <a:spLocks noChangeAspect="1"/>
          </p:cNvSpPr>
          <p:nvPr/>
        </p:nvSpPr>
        <p:spPr>
          <a:xfrm>
            <a:off x="7914027" y="1596752"/>
            <a:ext cx="91440" cy="91440"/>
          </a:xfrm>
          <a:prstGeom prst="ellipse">
            <a:avLst/>
          </a:prstGeom>
          <a:noFill/>
          <a:ln w="6350">
            <a:solidFill>
              <a:schemeClr val="accent1">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E63A51B-F4EE-0645-9F63-3AF168BFE59C}"/>
              </a:ext>
            </a:extLst>
          </p:cNvPr>
          <p:cNvSpPr>
            <a:spLocks noChangeAspect="1"/>
          </p:cNvSpPr>
          <p:nvPr/>
        </p:nvSpPr>
        <p:spPr>
          <a:xfrm>
            <a:off x="7822587" y="1514837"/>
            <a:ext cx="274320" cy="274320"/>
          </a:xfrm>
          <a:prstGeom prst="ellipse">
            <a:avLst/>
          </a:prstGeom>
          <a:noFill/>
          <a:ln w="6350">
            <a:solidFill>
              <a:schemeClr val="accent1">
                <a:lumMod val="20000"/>
                <a:lumOff val="8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3782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3A97D-6525-AE5B-B6D4-701D600F9C3E}"/>
              </a:ext>
            </a:extLst>
          </p:cNvPr>
          <p:cNvSpPr>
            <a:spLocks noGrp="1"/>
          </p:cNvSpPr>
          <p:nvPr>
            <p:ph type="title"/>
          </p:nvPr>
        </p:nvSpPr>
        <p:spPr>
          <a:xfrm>
            <a:off x="838200" y="365125"/>
            <a:ext cx="10515600" cy="1325563"/>
          </a:xfrm>
        </p:spPr>
        <p:txBody>
          <a:bodyPr>
            <a:normAutofit/>
          </a:bodyPr>
          <a:lstStyle/>
          <a:p>
            <a:r>
              <a:rPr lang="en-US" sz="5400"/>
              <a:t>Improves even “Good” astrometry</a:t>
            </a:r>
          </a:p>
        </p:txBody>
      </p:sp>
      <p:sp>
        <p:nvSpPr>
          <p:cNvPr id="35"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8D5BB0D0-054F-034F-84BE-E6B0FF9B2480}"/>
              </a:ext>
            </a:extLst>
          </p:cNvPr>
          <p:cNvGrpSpPr/>
          <p:nvPr/>
        </p:nvGrpSpPr>
        <p:grpSpPr>
          <a:xfrm>
            <a:off x="3463416" y="2228087"/>
            <a:ext cx="5265168" cy="3948876"/>
            <a:chOff x="6194646" y="1727352"/>
            <a:chExt cx="5842000" cy="4381500"/>
          </a:xfrm>
        </p:grpSpPr>
        <p:pic>
          <p:nvPicPr>
            <p:cNvPr id="7" name="Picture 6" descr="A graph with red and blue dots&#10;&#10;Description automatically generated">
              <a:extLst>
                <a:ext uri="{FF2B5EF4-FFF2-40B4-BE49-F238E27FC236}">
                  <a16:creationId xmlns:a16="http://schemas.microsoft.com/office/drawing/2014/main" id="{CD54E491-FAE4-2689-EAC1-47F2C11FDBCB}"/>
                </a:ext>
              </a:extLst>
            </p:cNvPr>
            <p:cNvPicPr>
              <a:picLocks noChangeAspect="1"/>
            </p:cNvPicPr>
            <p:nvPr/>
          </p:nvPicPr>
          <p:blipFill>
            <a:blip r:embed="rId2"/>
            <a:stretch>
              <a:fillRect/>
            </a:stretch>
          </p:blipFill>
          <p:spPr>
            <a:xfrm>
              <a:off x="6194646" y="1727352"/>
              <a:ext cx="5842000" cy="4381500"/>
            </a:xfrm>
            <a:prstGeom prst="rect">
              <a:avLst/>
            </a:prstGeom>
          </p:spPr>
        </p:pic>
        <p:sp>
          <p:nvSpPr>
            <p:cNvPr id="6" name="5-Point Star 5">
              <a:extLst>
                <a:ext uri="{FF2B5EF4-FFF2-40B4-BE49-F238E27FC236}">
                  <a16:creationId xmlns:a16="http://schemas.microsoft.com/office/drawing/2014/main" id="{A860041F-3625-774A-8933-B47881DEF01F}"/>
                </a:ext>
              </a:extLst>
            </p:cNvPr>
            <p:cNvSpPr/>
            <p:nvPr/>
          </p:nvSpPr>
          <p:spPr>
            <a:xfrm>
              <a:off x="8738175" y="4103090"/>
              <a:ext cx="226031" cy="215753"/>
            </a:xfrm>
            <a:prstGeom prst="star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2235D161-65E5-8E4D-9024-73C8792969AB}"/>
                </a:ext>
              </a:extLst>
            </p:cNvPr>
            <p:cNvSpPr/>
            <p:nvPr/>
          </p:nvSpPr>
          <p:spPr>
            <a:xfrm>
              <a:off x="8739885" y="3597662"/>
              <a:ext cx="226031" cy="215753"/>
            </a:xfrm>
            <a:prstGeom prst="star5">
              <a:avLst/>
            </a:prstGeom>
            <a:solidFill>
              <a:srgbClr val="76EE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6CCF42AF-2BBD-114B-9720-A741C9849106}"/>
                </a:ext>
              </a:extLst>
            </p:cNvPr>
            <p:cNvCxnSpPr>
              <a:cxnSpLocks/>
              <a:stCxn id="6" idx="0"/>
            </p:cNvCxnSpPr>
            <p:nvPr/>
          </p:nvCxnSpPr>
          <p:spPr>
            <a:xfrm flipV="1">
              <a:off x="8851191" y="3712622"/>
              <a:ext cx="0" cy="390468"/>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5-Point Star 15">
              <a:extLst>
                <a:ext uri="{FF2B5EF4-FFF2-40B4-BE49-F238E27FC236}">
                  <a16:creationId xmlns:a16="http://schemas.microsoft.com/office/drawing/2014/main" id="{C6C870E9-AE20-F749-BBA7-1685F36D8636}"/>
                </a:ext>
              </a:extLst>
            </p:cNvPr>
            <p:cNvSpPr/>
            <p:nvPr/>
          </p:nvSpPr>
          <p:spPr>
            <a:xfrm>
              <a:off x="8965916" y="2078539"/>
              <a:ext cx="226031" cy="215753"/>
            </a:xfrm>
            <a:prstGeom prst="star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DC01372-6E8D-0D49-A95C-217FA3471E92}"/>
                </a:ext>
              </a:extLst>
            </p:cNvPr>
            <p:cNvSpPr txBox="1"/>
            <p:nvPr/>
          </p:nvSpPr>
          <p:spPr>
            <a:xfrm>
              <a:off x="9316948" y="2001749"/>
              <a:ext cx="1664414" cy="369332"/>
            </a:xfrm>
            <a:prstGeom prst="rect">
              <a:avLst/>
            </a:prstGeom>
            <a:noFill/>
          </p:spPr>
          <p:txBody>
            <a:bodyPr wrap="square" rtlCol="0">
              <a:spAutoFit/>
            </a:bodyPr>
            <a:lstStyle/>
            <a:p>
              <a:pPr defTabSz="814730">
                <a:spcAft>
                  <a:spcPts val="540"/>
                </a:spcAft>
              </a:pPr>
              <a:r>
                <a:rPr lang="en-US" sz="1604" kern="1200">
                  <a:solidFill>
                    <a:schemeClr val="tx1"/>
                  </a:solidFill>
                  <a:latin typeface="+mn-lt"/>
                  <a:ea typeface="+mn-ea"/>
                  <a:cs typeface="+mn-cs"/>
                </a:rPr>
                <a:t>- Test frame</a:t>
              </a:r>
              <a:endParaRPr lang="en-US"/>
            </a:p>
          </p:txBody>
        </p:sp>
        <p:sp>
          <p:nvSpPr>
            <p:cNvPr id="18" name="5-Point Star 17">
              <a:extLst>
                <a:ext uri="{FF2B5EF4-FFF2-40B4-BE49-F238E27FC236}">
                  <a16:creationId xmlns:a16="http://schemas.microsoft.com/office/drawing/2014/main" id="{D477216C-0FDF-C140-92CD-1CFB85551C01}"/>
                </a:ext>
              </a:extLst>
            </p:cNvPr>
            <p:cNvSpPr/>
            <p:nvPr/>
          </p:nvSpPr>
          <p:spPr>
            <a:xfrm>
              <a:off x="8964206" y="2323405"/>
              <a:ext cx="226031" cy="215753"/>
            </a:xfrm>
            <a:prstGeom prst="star5">
              <a:avLst/>
            </a:prstGeom>
            <a:solidFill>
              <a:srgbClr val="76EE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E6B1506-9196-2F4B-AE61-90CBD1810665}"/>
                </a:ext>
              </a:extLst>
            </p:cNvPr>
            <p:cNvSpPr txBox="1"/>
            <p:nvPr/>
          </p:nvSpPr>
          <p:spPr>
            <a:xfrm>
              <a:off x="9304963" y="2246615"/>
              <a:ext cx="2451607" cy="369332"/>
            </a:xfrm>
            <a:prstGeom prst="rect">
              <a:avLst/>
            </a:prstGeom>
            <a:noFill/>
          </p:spPr>
          <p:txBody>
            <a:bodyPr wrap="square" rtlCol="0">
              <a:spAutoFit/>
            </a:bodyPr>
            <a:lstStyle/>
            <a:p>
              <a:pPr defTabSz="814730">
                <a:spcAft>
                  <a:spcPts val="540"/>
                </a:spcAft>
              </a:pPr>
              <a:r>
                <a:rPr lang="en-US" sz="1604" kern="1200">
                  <a:solidFill>
                    <a:schemeClr val="tx1"/>
                  </a:solidFill>
                  <a:latin typeface="+mn-lt"/>
                  <a:ea typeface="+mn-ea"/>
                  <a:cs typeface="+mn-cs"/>
                </a:rPr>
                <a:t>- Test frame corrected</a:t>
              </a:r>
              <a:endParaRPr lang="en-US"/>
            </a:p>
          </p:txBody>
        </p:sp>
      </p:grpSp>
    </p:spTree>
    <p:extLst>
      <p:ext uri="{BB962C8B-B14F-4D97-AF65-F5344CB8AC3E}">
        <p14:creationId xmlns:p14="http://schemas.microsoft.com/office/powerpoint/2010/main" val="946468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98B59-78C0-A8BC-BD5B-930154B56AF5}"/>
              </a:ext>
            </a:extLst>
          </p:cNvPr>
          <p:cNvSpPr>
            <a:spLocks noGrp="1"/>
          </p:cNvSpPr>
          <p:nvPr>
            <p:ph type="title"/>
          </p:nvPr>
        </p:nvSpPr>
        <p:spPr>
          <a:xfrm>
            <a:off x="523875" y="2708910"/>
            <a:ext cx="10515600" cy="1010603"/>
          </a:xfrm>
        </p:spPr>
        <p:txBody>
          <a:bodyPr/>
          <a:lstStyle/>
          <a:p>
            <a:r>
              <a:rPr lang="en-US" dirty="0"/>
              <a:t>Backup</a:t>
            </a:r>
          </a:p>
        </p:txBody>
      </p:sp>
    </p:spTree>
    <p:extLst>
      <p:ext uri="{BB962C8B-B14F-4D97-AF65-F5344CB8AC3E}">
        <p14:creationId xmlns:p14="http://schemas.microsoft.com/office/powerpoint/2010/main" val="2632792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E59BD-BBA1-2094-9997-E45F161C0C58}"/>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46A22960-3826-F8F4-6AE0-9A66BFDF3595}"/>
              </a:ext>
            </a:extLst>
          </p:cNvPr>
          <p:cNvSpPr>
            <a:spLocks noGrp="1"/>
          </p:cNvSpPr>
          <p:nvPr>
            <p:ph type="title"/>
          </p:nvPr>
        </p:nvSpPr>
        <p:spPr>
          <a:xfrm>
            <a:off x="187261" y="197379"/>
            <a:ext cx="4622180" cy="1035050"/>
          </a:xfrm>
        </p:spPr>
        <p:txBody>
          <a:bodyPr/>
          <a:lstStyle/>
          <a:p>
            <a:r>
              <a:rPr lang="en-US" dirty="0"/>
              <a:t>Orbit 3I C/2025 N1</a:t>
            </a:r>
          </a:p>
        </p:txBody>
      </p:sp>
      <p:pic>
        <p:nvPicPr>
          <p:cNvPr id="4" name="Picture 3" descr="A diagram of a curved object&#10;&#10;AI-generated content may be incorrect.">
            <a:extLst>
              <a:ext uri="{FF2B5EF4-FFF2-40B4-BE49-F238E27FC236}">
                <a16:creationId xmlns:a16="http://schemas.microsoft.com/office/drawing/2014/main" id="{218736B2-2252-C11A-F754-E4391A9853E2}"/>
              </a:ext>
            </a:extLst>
          </p:cNvPr>
          <p:cNvPicPr>
            <a:picLocks noChangeAspect="1"/>
          </p:cNvPicPr>
          <p:nvPr/>
        </p:nvPicPr>
        <p:blipFill>
          <a:blip r:embed="rId2"/>
          <a:stretch>
            <a:fillRect/>
          </a:stretch>
        </p:blipFill>
        <p:spPr>
          <a:xfrm>
            <a:off x="4457746" y="479215"/>
            <a:ext cx="7669441" cy="5899570"/>
          </a:xfrm>
          <a:prstGeom prst="rect">
            <a:avLst/>
          </a:prstGeom>
        </p:spPr>
      </p:pic>
    </p:spTree>
    <p:extLst>
      <p:ext uri="{BB962C8B-B14F-4D97-AF65-F5344CB8AC3E}">
        <p14:creationId xmlns:p14="http://schemas.microsoft.com/office/powerpoint/2010/main" val="492402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EB24E-9A49-E281-B8F5-1215C01320A6}"/>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B8F75BD2-86C4-319D-BDD4-EA7CD6C185AB}"/>
              </a:ext>
            </a:extLst>
          </p:cNvPr>
          <p:cNvSpPr>
            <a:spLocks noGrp="1"/>
          </p:cNvSpPr>
          <p:nvPr>
            <p:ph idx="1"/>
          </p:nvPr>
        </p:nvSpPr>
        <p:spPr>
          <a:xfrm>
            <a:off x="187260" y="1106088"/>
            <a:ext cx="3637543" cy="5090319"/>
          </a:xfrm>
        </p:spPr>
        <p:txBody>
          <a:bodyPr>
            <a:normAutofit/>
          </a:bodyPr>
          <a:lstStyle/>
          <a:p>
            <a:pPr>
              <a:lnSpc>
                <a:spcPct val="120000"/>
              </a:lnSpc>
              <a:spcBef>
                <a:spcPts val="0"/>
              </a:spcBef>
            </a:pPr>
            <a:r>
              <a:rPr lang="en-US" sz="2400" dirty="0"/>
              <a:t>The campaign window opens after perihelion with solar elongation between 60 and 177 degrees from Nov. 27 to Jan. 27, 2026. </a:t>
            </a:r>
          </a:p>
        </p:txBody>
      </p:sp>
      <p:sp>
        <p:nvSpPr>
          <p:cNvPr id="9" name="Title 1">
            <a:extLst>
              <a:ext uri="{FF2B5EF4-FFF2-40B4-BE49-F238E27FC236}">
                <a16:creationId xmlns:a16="http://schemas.microsoft.com/office/drawing/2014/main" id="{88802C80-6849-2098-A463-A60E2917F286}"/>
              </a:ext>
            </a:extLst>
          </p:cNvPr>
          <p:cNvSpPr txBox="1">
            <a:spLocks/>
          </p:cNvSpPr>
          <p:nvPr/>
        </p:nvSpPr>
        <p:spPr>
          <a:xfrm>
            <a:off x="187260" y="197379"/>
            <a:ext cx="4494007" cy="9087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3I Solar Elongation</a:t>
            </a:r>
          </a:p>
        </p:txBody>
      </p:sp>
      <p:pic>
        <p:nvPicPr>
          <p:cNvPr id="3" name="Picture 2" descr="A diagram of the solar eclipse&#10;&#10;AI-generated content may be incorrect.">
            <a:extLst>
              <a:ext uri="{FF2B5EF4-FFF2-40B4-BE49-F238E27FC236}">
                <a16:creationId xmlns:a16="http://schemas.microsoft.com/office/drawing/2014/main" id="{82AA1A8D-CA4F-7127-32F9-D51D56EACF85}"/>
              </a:ext>
            </a:extLst>
          </p:cNvPr>
          <p:cNvPicPr>
            <a:picLocks noChangeAspect="1"/>
          </p:cNvPicPr>
          <p:nvPr/>
        </p:nvPicPr>
        <p:blipFill>
          <a:blip r:embed="rId2"/>
          <a:stretch>
            <a:fillRect/>
          </a:stretch>
        </p:blipFill>
        <p:spPr>
          <a:xfrm>
            <a:off x="3757847" y="899662"/>
            <a:ext cx="8309758" cy="5886079"/>
          </a:xfrm>
          <a:prstGeom prst="rect">
            <a:avLst/>
          </a:prstGeom>
        </p:spPr>
      </p:pic>
    </p:spTree>
    <p:extLst>
      <p:ext uri="{BB962C8B-B14F-4D97-AF65-F5344CB8AC3E}">
        <p14:creationId xmlns:p14="http://schemas.microsoft.com/office/powerpoint/2010/main" val="2967337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1638D-5467-D2ED-761F-ADE7AFC3D58F}"/>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0B0CDD2-9E77-CDA9-BCF1-EF5364C1889B}"/>
              </a:ext>
            </a:extLst>
          </p:cNvPr>
          <p:cNvSpPr>
            <a:spLocks noGrp="1"/>
          </p:cNvSpPr>
          <p:nvPr>
            <p:ph idx="1"/>
          </p:nvPr>
        </p:nvSpPr>
        <p:spPr>
          <a:xfrm>
            <a:off x="187261" y="1106088"/>
            <a:ext cx="3576430" cy="5090319"/>
          </a:xfrm>
        </p:spPr>
        <p:txBody>
          <a:bodyPr>
            <a:normAutofit/>
          </a:bodyPr>
          <a:lstStyle/>
          <a:p>
            <a:pPr>
              <a:lnSpc>
                <a:spcPct val="120000"/>
              </a:lnSpc>
              <a:spcBef>
                <a:spcPts val="0"/>
              </a:spcBef>
            </a:pPr>
            <a:r>
              <a:rPr lang="en-US" sz="2400" dirty="0"/>
              <a:t>During close approach around December 19, 2025, the comet is at 2.68 AU from the Earth</a:t>
            </a:r>
          </a:p>
        </p:txBody>
      </p:sp>
      <p:sp>
        <p:nvSpPr>
          <p:cNvPr id="4" name="Title 1">
            <a:extLst>
              <a:ext uri="{FF2B5EF4-FFF2-40B4-BE49-F238E27FC236}">
                <a16:creationId xmlns:a16="http://schemas.microsoft.com/office/drawing/2014/main" id="{313B8F2F-F2DB-FC63-5D2D-7FEB61502B36}"/>
              </a:ext>
            </a:extLst>
          </p:cNvPr>
          <p:cNvSpPr>
            <a:spLocks noGrp="1"/>
          </p:cNvSpPr>
          <p:nvPr>
            <p:ph type="title"/>
          </p:nvPr>
        </p:nvSpPr>
        <p:spPr>
          <a:xfrm>
            <a:off x="187261" y="197379"/>
            <a:ext cx="3637544" cy="1035050"/>
          </a:xfrm>
        </p:spPr>
        <p:txBody>
          <a:bodyPr>
            <a:normAutofit/>
          </a:bodyPr>
          <a:lstStyle/>
          <a:p>
            <a:r>
              <a:rPr lang="en-US" dirty="0"/>
              <a:t>3I Distance</a:t>
            </a:r>
          </a:p>
        </p:txBody>
      </p:sp>
      <p:pic>
        <p:nvPicPr>
          <p:cNvPr id="6" name="Picture 5" descr="A graph of different seasons&#10;&#10;AI-generated content may be incorrect.">
            <a:extLst>
              <a:ext uri="{FF2B5EF4-FFF2-40B4-BE49-F238E27FC236}">
                <a16:creationId xmlns:a16="http://schemas.microsoft.com/office/drawing/2014/main" id="{29910859-3BF5-A8DB-CBF6-2F736DD405AC}"/>
              </a:ext>
            </a:extLst>
          </p:cNvPr>
          <p:cNvPicPr>
            <a:picLocks noChangeAspect="1"/>
          </p:cNvPicPr>
          <p:nvPr/>
        </p:nvPicPr>
        <p:blipFill>
          <a:blip r:embed="rId2"/>
          <a:stretch>
            <a:fillRect/>
          </a:stretch>
        </p:blipFill>
        <p:spPr>
          <a:xfrm>
            <a:off x="3531785" y="526302"/>
            <a:ext cx="8660215" cy="6134319"/>
          </a:xfrm>
          <a:prstGeom prst="rect">
            <a:avLst/>
          </a:prstGeom>
        </p:spPr>
      </p:pic>
    </p:spTree>
    <p:extLst>
      <p:ext uri="{BB962C8B-B14F-4D97-AF65-F5344CB8AC3E}">
        <p14:creationId xmlns:p14="http://schemas.microsoft.com/office/powerpoint/2010/main" val="2734808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2CB74-1A36-24AD-6FDA-F122F1132CAC}"/>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3F1C6B8-908E-71FE-5E88-B73F8AAD2772}"/>
              </a:ext>
            </a:extLst>
          </p:cNvPr>
          <p:cNvSpPr>
            <a:spLocks noGrp="1"/>
          </p:cNvSpPr>
          <p:nvPr>
            <p:ph idx="1"/>
          </p:nvPr>
        </p:nvSpPr>
        <p:spPr>
          <a:xfrm>
            <a:off x="187260" y="1106088"/>
            <a:ext cx="3493343" cy="5090319"/>
          </a:xfrm>
        </p:spPr>
        <p:txBody>
          <a:bodyPr>
            <a:normAutofit lnSpcReduction="10000"/>
          </a:bodyPr>
          <a:lstStyle/>
          <a:p>
            <a:pPr>
              <a:lnSpc>
                <a:spcPct val="120000"/>
              </a:lnSpc>
              <a:spcBef>
                <a:spcPts val="0"/>
              </a:spcBef>
            </a:pPr>
            <a:r>
              <a:rPr lang="en-US" sz="2400" dirty="0"/>
              <a:t>Comet will be between visual magnitude ~11 and ~16 from November 2025 to January 2026. </a:t>
            </a:r>
          </a:p>
          <a:p>
            <a:pPr>
              <a:lnSpc>
                <a:spcPct val="120000"/>
              </a:lnSpc>
              <a:spcBef>
                <a:spcPts val="0"/>
              </a:spcBef>
            </a:pPr>
            <a:endParaRPr lang="en-US" sz="2400" dirty="0"/>
          </a:p>
          <a:p>
            <a:pPr>
              <a:lnSpc>
                <a:spcPct val="120000"/>
              </a:lnSpc>
              <a:spcBef>
                <a:spcPts val="0"/>
              </a:spcBef>
            </a:pPr>
            <a:r>
              <a:rPr lang="en-US" sz="2400" dirty="0"/>
              <a:t>At close approach, it is expected reach visual magnitude 12.5, which is bright enough for even modest aperture optical telescopes.  </a:t>
            </a:r>
          </a:p>
        </p:txBody>
      </p:sp>
      <p:sp>
        <p:nvSpPr>
          <p:cNvPr id="6" name="Title 1">
            <a:extLst>
              <a:ext uri="{FF2B5EF4-FFF2-40B4-BE49-F238E27FC236}">
                <a16:creationId xmlns:a16="http://schemas.microsoft.com/office/drawing/2014/main" id="{E23ADD47-2ED5-FDAD-6BD8-41506C662314}"/>
              </a:ext>
            </a:extLst>
          </p:cNvPr>
          <p:cNvSpPr>
            <a:spLocks noGrp="1"/>
          </p:cNvSpPr>
          <p:nvPr>
            <p:ph type="title"/>
          </p:nvPr>
        </p:nvSpPr>
        <p:spPr>
          <a:xfrm>
            <a:off x="187260" y="197379"/>
            <a:ext cx="3798144" cy="1035050"/>
          </a:xfrm>
        </p:spPr>
        <p:txBody>
          <a:bodyPr>
            <a:normAutofit/>
          </a:bodyPr>
          <a:lstStyle/>
          <a:p>
            <a:r>
              <a:rPr lang="en-US" dirty="0"/>
              <a:t>3I Brightness</a:t>
            </a:r>
          </a:p>
        </p:txBody>
      </p:sp>
      <p:pic>
        <p:nvPicPr>
          <p:cNvPr id="4" name="Picture 3" descr="A red line graph with white text&#10;&#10;AI-generated content may be incorrect.">
            <a:extLst>
              <a:ext uri="{FF2B5EF4-FFF2-40B4-BE49-F238E27FC236}">
                <a16:creationId xmlns:a16="http://schemas.microsoft.com/office/drawing/2014/main" id="{EAF9C07B-EDFF-CD2B-5E1B-B3C836272FEB}"/>
              </a:ext>
            </a:extLst>
          </p:cNvPr>
          <p:cNvPicPr>
            <a:picLocks noChangeAspect="1"/>
          </p:cNvPicPr>
          <p:nvPr/>
        </p:nvPicPr>
        <p:blipFill>
          <a:blip r:embed="rId2"/>
          <a:stretch>
            <a:fillRect/>
          </a:stretch>
        </p:blipFill>
        <p:spPr>
          <a:xfrm>
            <a:off x="3824670" y="635632"/>
            <a:ext cx="8180070" cy="5794216"/>
          </a:xfrm>
          <a:prstGeom prst="rect">
            <a:avLst/>
          </a:prstGeom>
        </p:spPr>
      </p:pic>
    </p:spTree>
    <p:extLst>
      <p:ext uri="{BB962C8B-B14F-4D97-AF65-F5344CB8AC3E}">
        <p14:creationId xmlns:p14="http://schemas.microsoft.com/office/powerpoint/2010/main" val="2602071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D3079-5585-2940-7138-566A8972F35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7856ED2-25C9-A570-A101-0D0D67F6C642}"/>
              </a:ext>
            </a:extLst>
          </p:cNvPr>
          <p:cNvSpPr>
            <a:spLocks noGrp="1"/>
          </p:cNvSpPr>
          <p:nvPr>
            <p:ph type="title"/>
          </p:nvPr>
        </p:nvSpPr>
        <p:spPr>
          <a:xfrm>
            <a:off x="61857" y="184484"/>
            <a:ext cx="6121709" cy="1035050"/>
          </a:xfrm>
        </p:spPr>
        <p:txBody>
          <a:bodyPr>
            <a:normAutofit/>
          </a:bodyPr>
          <a:lstStyle/>
          <a:p>
            <a:r>
              <a:rPr lang="en-US" dirty="0"/>
              <a:t>3I Rates and RA/DEC </a:t>
            </a:r>
          </a:p>
        </p:txBody>
      </p:sp>
      <p:pic>
        <p:nvPicPr>
          <p:cNvPr id="3" name="Picture 2" descr="A graph with red line&#10;&#10;AI-generated content may be incorrect.">
            <a:extLst>
              <a:ext uri="{FF2B5EF4-FFF2-40B4-BE49-F238E27FC236}">
                <a16:creationId xmlns:a16="http://schemas.microsoft.com/office/drawing/2014/main" id="{8F988297-B5DB-AD05-7369-ABD639C616E4}"/>
              </a:ext>
            </a:extLst>
          </p:cNvPr>
          <p:cNvPicPr>
            <a:picLocks noChangeAspect="1"/>
          </p:cNvPicPr>
          <p:nvPr/>
        </p:nvPicPr>
        <p:blipFill>
          <a:blip r:embed="rId2"/>
          <a:stretch>
            <a:fillRect/>
          </a:stretch>
        </p:blipFill>
        <p:spPr>
          <a:xfrm>
            <a:off x="61857" y="1409405"/>
            <a:ext cx="5435354" cy="3850043"/>
          </a:xfrm>
          <a:prstGeom prst="rect">
            <a:avLst/>
          </a:prstGeom>
        </p:spPr>
      </p:pic>
      <p:pic>
        <p:nvPicPr>
          <p:cNvPr id="7" name="Picture 6" descr="A graph with numbers and lines&#10;&#10;AI-generated content may be incorrect.">
            <a:extLst>
              <a:ext uri="{FF2B5EF4-FFF2-40B4-BE49-F238E27FC236}">
                <a16:creationId xmlns:a16="http://schemas.microsoft.com/office/drawing/2014/main" id="{BAC46554-6848-DAAD-44A2-C4844FF40D74}"/>
              </a:ext>
            </a:extLst>
          </p:cNvPr>
          <p:cNvPicPr>
            <a:picLocks noChangeAspect="1"/>
          </p:cNvPicPr>
          <p:nvPr/>
        </p:nvPicPr>
        <p:blipFill>
          <a:blip r:embed="rId3"/>
          <a:srcRect l="1232" t="3039" r="2979" b="2992"/>
          <a:stretch>
            <a:fillRect/>
          </a:stretch>
        </p:blipFill>
        <p:spPr>
          <a:xfrm>
            <a:off x="5416547" y="1501816"/>
            <a:ext cx="6713596" cy="3665220"/>
          </a:xfrm>
          <a:prstGeom prst="rect">
            <a:avLst/>
          </a:prstGeom>
        </p:spPr>
      </p:pic>
    </p:spTree>
    <p:extLst>
      <p:ext uri="{BB962C8B-B14F-4D97-AF65-F5344CB8AC3E}">
        <p14:creationId xmlns:p14="http://schemas.microsoft.com/office/powerpoint/2010/main" val="3976269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AD233-B4FE-B851-C718-5592BA202DF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BA3FFD8-D626-179B-E3D6-D102615A21A0}"/>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600" kern="1200" dirty="0">
                <a:solidFill>
                  <a:schemeClr val="tx1"/>
                </a:solidFill>
                <a:latin typeface="+mj-lt"/>
                <a:ea typeface="+mj-ea"/>
                <a:cs typeface="+mj-cs"/>
              </a:rPr>
              <a:t>3I/ATLAS Observability</a:t>
            </a:r>
          </a:p>
        </p:txBody>
      </p:sp>
      <p:sp>
        <p:nvSpPr>
          <p:cNvPr id="15" name="TextBox 14">
            <a:extLst>
              <a:ext uri="{FF2B5EF4-FFF2-40B4-BE49-F238E27FC236}">
                <a16:creationId xmlns:a16="http://schemas.microsoft.com/office/drawing/2014/main" id="{FFE7EDAF-3949-7DB8-B0F6-D10BE5A1AFB1}"/>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a:t>Northern Hemisphere</a:t>
            </a:r>
          </a:p>
        </p:txBody>
      </p:sp>
      <p:pic>
        <p:nvPicPr>
          <p:cNvPr id="4" name="Picture 3">
            <a:extLst>
              <a:ext uri="{FF2B5EF4-FFF2-40B4-BE49-F238E27FC236}">
                <a16:creationId xmlns:a16="http://schemas.microsoft.com/office/drawing/2014/main" id="{0D9F7C70-2241-024D-A14F-259AD85EA65B}"/>
              </a:ext>
            </a:extLst>
          </p:cNvPr>
          <p:cNvPicPr>
            <a:picLocks noChangeAspect="1"/>
          </p:cNvPicPr>
          <p:nvPr/>
        </p:nvPicPr>
        <p:blipFill rotWithShape="1">
          <a:blip r:embed="rId2"/>
          <a:srcRect t="4014" b="4055"/>
          <a:stretch/>
        </p:blipFill>
        <p:spPr>
          <a:xfrm>
            <a:off x="6096000" y="-24389"/>
            <a:ext cx="5366657" cy="6892623"/>
          </a:xfrm>
          <a:prstGeom prst="rect">
            <a:avLst/>
          </a:prstGeom>
        </p:spPr>
      </p:pic>
    </p:spTree>
    <p:extLst>
      <p:ext uri="{BB962C8B-B14F-4D97-AF65-F5344CB8AC3E}">
        <p14:creationId xmlns:p14="http://schemas.microsoft.com/office/powerpoint/2010/main" val="1117420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AD233-B4FE-B851-C718-5592BA202DF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BA3FFD8-D626-179B-E3D6-D102615A21A0}"/>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600" kern="1200" dirty="0">
                <a:solidFill>
                  <a:schemeClr val="tx1"/>
                </a:solidFill>
                <a:latin typeface="+mj-lt"/>
                <a:ea typeface="+mj-ea"/>
                <a:cs typeface="+mj-cs"/>
              </a:rPr>
              <a:t>3I/ATLAS Observability</a:t>
            </a:r>
          </a:p>
        </p:txBody>
      </p:sp>
      <p:sp>
        <p:nvSpPr>
          <p:cNvPr id="15" name="TextBox 14">
            <a:extLst>
              <a:ext uri="{FF2B5EF4-FFF2-40B4-BE49-F238E27FC236}">
                <a16:creationId xmlns:a16="http://schemas.microsoft.com/office/drawing/2014/main" id="{FFE7EDAF-3949-7DB8-B0F6-D10BE5A1AFB1}"/>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dirty="0"/>
              <a:t>Southern Hemisphere</a:t>
            </a:r>
          </a:p>
        </p:txBody>
      </p:sp>
      <p:pic>
        <p:nvPicPr>
          <p:cNvPr id="5" name="Picture 4">
            <a:extLst>
              <a:ext uri="{FF2B5EF4-FFF2-40B4-BE49-F238E27FC236}">
                <a16:creationId xmlns:a16="http://schemas.microsoft.com/office/drawing/2014/main" id="{F493337E-25BF-7A4A-B4BB-16EE31430380}"/>
              </a:ext>
            </a:extLst>
          </p:cNvPr>
          <p:cNvPicPr>
            <a:picLocks noChangeAspect="1"/>
          </p:cNvPicPr>
          <p:nvPr/>
        </p:nvPicPr>
        <p:blipFill rotWithShape="1">
          <a:blip r:embed="rId2"/>
          <a:srcRect l="3020" t="3505" r="2765" b="3559"/>
          <a:stretch/>
        </p:blipFill>
        <p:spPr>
          <a:xfrm>
            <a:off x="6391982" y="-62810"/>
            <a:ext cx="5049812" cy="6953466"/>
          </a:xfrm>
          <a:prstGeom prst="rect">
            <a:avLst/>
          </a:prstGeom>
        </p:spPr>
      </p:pic>
    </p:spTree>
    <p:extLst>
      <p:ext uri="{BB962C8B-B14F-4D97-AF65-F5344CB8AC3E}">
        <p14:creationId xmlns:p14="http://schemas.microsoft.com/office/powerpoint/2010/main" val="3732756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82D19-BF90-5C46-9F8B-614D12B58532}"/>
              </a:ext>
            </a:extLst>
          </p:cNvPr>
          <p:cNvSpPr>
            <a:spLocks noGrp="1"/>
          </p:cNvSpPr>
          <p:nvPr>
            <p:ph type="title"/>
          </p:nvPr>
        </p:nvSpPr>
        <p:spPr>
          <a:xfrm>
            <a:off x="221974" y="166342"/>
            <a:ext cx="10515600" cy="772905"/>
          </a:xfrm>
        </p:spPr>
        <p:txBody>
          <a:bodyPr/>
          <a:lstStyle/>
          <a:p>
            <a:r>
              <a:rPr lang="en-US" dirty="0"/>
              <a:t>Prerequisites</a:t>
            </a:r>
          </a:p>
        </p:txBody>
      </p:sp>
      <p:sp>
        <p:nvSpPr>
          <p:cNvPr id="3" name="Content Placeholder 2">
            <a:extLst>
              <a:ext uri="{FF2B5EF4-FFF2-40B4-BE49-F238E27FC236}">
                <a16:creationId xmlns:a16="http://schemas.microsoft.com/office/drawing/2014/main" id="{D55BF444-A275-2B1B-6327-1C0D18BBE71F}"/>
              </a:ext>
            </a:extLst>
          </p:cNvPr>
          <p:cNvSpPr>
            <a:spLocks noGrp="1"/>
          </p:cNvSpPr>
          <p:nvPr>
            <p:ph idx="1"/>
          </p:nvPr>
        </p:nvSpPr>
        <p:spPr>
          <a:xfrm>
            <a:off x="221974" y="939247"/>
            <a:ext cx="11748052" cy="5660336"/>
          </a:xfrm>
        </p:spPr>
        <p:txBody>
          <a:bodyPr>
            <a:normAutofit/>
          </a:bodyPr>
          <a:lstStyle/>
          <a:p>
            <a:r>
              <a:rPr lang="en-US" sz="2400" dirty="0"/>
              <a:t>The campaign participants are expected to have sufficient experience doing moving object astrometry using optical telescopes. </a:t>
            </a:r>
          </a:p>
          <a:p>
            <a:r>
              <a:rPr lang="en-US" sz="2400" dirty="0"/>
              <a:t>Participants are expected to have an MPC code and contributing small body astrometry regularly to the MPC.</a:t>
            </a:r>
          </a:p>
          <a:p>
            <a:r>
              <a:rPr lang="en-US" sz="2400" dirty="0"/>
              <a:t>Participants should have a way to set their clocks accurately and avoid any timing error. </a:t>
            </a:r>
          </a:p>
          <a:p>
            <a:r>
              <a:rPr lang="en-US" sz="2400" dirty="0"/>
              <a:t>Examples we show use </a:t>
            </a:r>
            <a:r>
              <a:rPr lang="en-US" sz="2400" dirty="0" err="1"/>
              <a:t>Astrometrica</a:t>
            </a:r>
            <a:r>
              <a:rPr lang="en-US" sz="2400" dirty="0"/>
              <a:t> software (low-cost astrometry tool) but are encouraged to use their regular astrometry tool that can stack images and use variable apertures. </a:t>
            </a:r>
          </a:p>
          <a:p>
            <a:r>
              <a:rPr lang="en-US" sz="2400" dirty="0"/>
              <a:t>All participants must use GAIA DR2 or later for the astrometric reference frame. </a:t>
            </a:r>
          </a:p>
          <a:p>
            <a:r>
              <a:rPr lang="en-US" sz="2400" dirty="0"/>
              <a:t>All astrometry should be in IAU ADES format.  </a:t>
            </a:r>
          </a:p>
        </p:txBody>
      </p:sp>
    </p:spTree>
    <p:extLst>
      <p:ext uri="{BB962C8B-B14F-4D97-AF65-F5344CB8AC3E}">
        <p14:creationId xmlns:p14="http://schemas.microsoft.com/office/powerpoint/2010/main" val="4249608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2598-9D8B-DD39-58EE-0A708A4CDEE0}"/>
              </a:ext>
            </a:extLst>
          </p:cNvPr>
          <p:cNvSpPr>
            <a:spLocks noGrp="1"/>
          </p:cNvSpPr>
          <p:nvPr>
            <p:ph type="title"/>
          </p:nvPr>
        </p:nvSpPr>
        <p:spPr>
          <a:xfrm>
            <a:off x="251790" y="196161"/>
            <a:ext cx="11610561" cy="832540"/>
          </a:xfrm>
        </p:spPr>
        <p:txBody>
          <a:bodyPr/>
          <a:lstStyle/>
          <a:p>
            <a:r>
              <a:rPr lang="en-US" dirty="0"/>
              <a:t>Methodology</a:t>
            </a:r>
          </a:p>
        </p:txBody>
      </p:sp>
      <p:sp>
        <p:nvSpPr>
          <p:cNvPr id="3" name="Content Placeholder 2">
            <a:extLst>
              <a:ext uri="{FF2B5EF4-FFF2-40B4-BE49-F238E27FC236}">
                <a16:creationId xmlns:a16="http://schemas.microsoft.com/office/drawing/2014/main" id="{BFBB1791-9804-DC96-1ACC-CE2BDE09E99D}"/>
              </a:ext>
            </a:extLst>
          </p:cNvPr>
          <p:cNvSpPr>
            <a:spLocks noGrp="1"/>
          </p:cNvSpPr>
          <p:nvPr>
            <p:ph idx="1"/>
          </p:nvPr>
        </p:nvSpPr>
        <p:spPr>
          <a:xfrm>
            <a:off x="109330" y="985768"/>
            <a:ext cx="11951805" cy="5534302"/>
          </a:xfrm>
        </p:spPr>
        <p:txBody>
          <a:bodyPr>
            <a:normAutofit/>
          </a:bodyPr>
          <a:lstStyle/>
          <a:p>
            <a:r>
              <a:rPr lang="en-US" sz="2400" dirty="0"/>
              <a:t>Collect FITS images of the comet. Keep exposures short that the comet is not trailed more than 0.5X of your FWHM. So, if your seeing is 2 arc seconds, keep your exposures so your comet does not trail more than 1 arc seconds.</a:t>
            </a:r>
          </a:p>
          <a:p>
            <a:r>
              <a:rPr lang="en-US" sz="2400" dirty="0"/>
              <a:t>Collect enough images so the comet will have sufficient SNR (&gt;10) in the stacked image. </a:t>
            </a:r>
          </a:p>
          <a:p>
            <a:r>
              <a:rPr lang="en-US" sz="2400" dirty="0"/>
              <a:t>If stacking, use individual frames in </a:t>
            </a:r>
            <a:r>
              <a:rPr lang="en-US" sz="2400" dirty="0" err="1"/>
              <a:t>Astrometrica</a:t>
            </a:r>
            <a:r>
              <a:rPr lang="en-US" sz="2400" dirty="0"/>
              <a:t> using the know motion and motion vector (e.g., JPL Horizons or MPC). </a:t>
            </a:r>
          </a:p>
          <a:p>
            <a:r>
              <a:rPr lang="en-US" sz="2400" dirty="0"/>
              <a:t>Measure the astrometry using a range of apertures starting from 7 pixels all the way down to 2 pixels. </a:t>
            </a:r>
          </a:p>
          <a:p>
            <a:r>
              <a:rPr lang="en-US" sz="2400" dirty="0"/>
              <a:t>Use the provided tool to extrapolate the 0-pixel astrometry.</a:t>
            </a:r>
          </a:p>
          <a:p>
            <a:r>
              <a:rPr lang="en-US" sz="2400" dirty="0"/>
              <a:t>Save the ADES file and submit it to the 0-pixel astrometry to the MPC and campaign coordinators (Davide). </a:t>
            </a:r>
          </a:p>
          <a:p>
            <a:r>
              <a:rPr lang="en-US" sz="2400" dirty="0"/>
              <a:t>Please repeat three positions on a single night. If you are stacking, do not use the same individual image in the different stacks. </a:t>
            </a:r>
          </a:p>
        </p:txBody>
      </p:sp>
    </p:spTree>
    <p:extLst>
      <p:ext uri="{BB962C8B-B14F-4D97-AF65-F5344CB8AC3E}">
        <p14:creationId xmlns:p14="http://schemas.microsoft.com/office/powerpoint/2010/main" val="754078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12035</TotalTime>
  <Words>849</Words>
  <Application>Microsoft Macintosh PowerPoint</Application>
  <PresentationFormat>Widescreen</PresentationFormat>
  <Paragraphs>62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Comet Campaign Overview</vt:lpstr>
      <vt:lpstr>Campaign Rationale</vt:lpstr>
      <vt:lpstr>Comet Campaign Timeline</vt:lpstr>
      <vt:lpstr>Process</vt:lpstr>
      <vt:lpstr>Workshop for Comet Astrometry:  Introduces Zero-aperture technique and use of extrapolation code.</vt:lpstr>
      <vt:lpstr>Improves even “Good” astrometry</vt:lpstr>
      <vt:lpstr>Backup</vt:lpstr>
      <vt:lpstr>Orbit 3I C/2025 N1</vt:lpstr>
      <vt:lpstr>PowerPoint Presentation</vt:lpstr>
      <vt:lpstr>3I Distance</vt:lpstr>
      <vt:lpstr>3I Brightness</vt:lpstr>
      <vt:lpstr>3I Rates and RA/DEC </vt:lpstr>
      <vt:lpstr>3I/ATLAS Observability</vt:lpstr>
      <vt:lpstr>3I/ATLAS Observability</vt:lpstr>
      <vt:lpstr>Prerequisites</vt:lpstr>
      <vt:lpstr>Methodology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Comet Campaign Overview</dc:title>
  <dc:creator>Reddy, Vishnu - (vishnureddy)</dc:creator>
  <cp:lastModifiedBy>James M. Bauer</cp:lastModifiedBy>
  <cp:revision>108</cp:revision>
  <dcterms:created xsi:type="dcterms:W3CDTF">2025-05-28T15:12:29Z</dcterms:created>
  <dcterms:modified xsi:type="dcterms:W3CDTF">2025-10-02T12:00:32Z</dcterms:modified>
</cp:coreProperties>
</file>