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9" r:id="rId2"/>
    <p:sldId id="270" r:id="rId3"/>
    <p:sldId id="271" r:id="rId4"/>
    <p:sldId id="272" r:id="rId5"/>
    <p:sldId id="260" r:id="rId6"/>
    <p:sldId id="258" r:id="rId7"/>
    <p:sldId id="259" r:id="rId8"/>
    <p:sldId id="261" r:id="rId9"/>
    <p:sldId id="262" r:id="rId10"/>
    <p:sldId id="263" r:id="rId11"/>
    <p:sldId id="265" r:id="rId12"/>
    <p:sldId id="267" r:id="rId13"/>
    <p:sldId id="268" r:id="rId14"/>
    <p:sldId id="266"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12"/>
    <p:restoredTop sz="96327"/>
  </p:normalViewPr>
  <p:slideViewPr>
    <p:cSldViewPr snapToGrid="0">
      <p:cViewPr varScale="1">
        <p:scale>
          <a:sx n="222" d="100"/>
          <a:sy n="222" d="100"/>
        </p:scale>
        <p:origin x="47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873F6-71B5-1C5A-C471-26D9BEB61B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2C3226-04BE-70C8-1E35-9E76B49CAF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7715CC-2B06-D969-1C0E-F4B366287A2A}"/>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5" name="Footer Placeholder 4">
            <a:extLst>
              <a:ext uri="{FF2B5EF4-FFF2-40B4-BE49-F238E27FC236}">
                <a16:creationId xmlns:a16="http://schemas.microsoft.com/office/drawing/2014/main" id="{F34B42B4-9B32-8BFD-5642-CEEA75569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A16E88-1E6A-BD98-99F4-4FA53A50502E}"/>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4015042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D53AA-F448-7593-AC69-DCE52215E3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73C9B7-DAF5-2932-93C4-85ED60EBBC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5ED87B-81C0-576A-C5DA-C126422740F0}"/>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5" name="Footer Placeholder 4">
            <a:extLst>
              <a:ext uri="{FF2B5EF4-FFF2-40B4-BE49-F238E27FC236}">
                <a16:creationId xmlns:a16="http://schemas.microsoft.com/office/drawing/2014/main" id="{8166C2D6-9E53-9D52-BD98-5A3BCD849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802D97-A543-872C-3970-0903AE7B37E7}"/>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2170481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F850D-BD48-1F58-C95A-D59095EC0E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881D7F-3022-AAEE-DA6E-ABC58469E2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A0C787-A813-541D-80F5-CEEFC75C9EFE}"/>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5" name="Footer Placeholder 4">
            <a:extLst>
              <a:ext uri="{FF2B5EF4-FFF2-40B4-BE49-F238E27FC236}">
                <a16:creationId xmlns:a16="http://schemas.microsoft.com/office/drawing/2014/main" id="{E61CB158-E1A9-63CB-EFBB-1E0FAC97F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A98ED-C126-4401-A4F5-96AC682758E9}"/>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1728658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295C-DBEB-878D-FD1A-DCDEADB4D7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6473F9-2373-59A8-5CA1-4813E78AF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74659D-D0AA-F83A-71A2-2A1E8E8619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0C1DF5-1BC0-E32B-83D8-CFA5E4518FB8}"/>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6" name="Footer Placeholder 5">
            <a:extLst>
              <a:ext uri="{FF2B5EF4-FFF2-40B4-BE49-F238E27FC236}">
                <a16:creationId xmlns:a16="http://schemas.microsoft.com/office/drawing/2014/main" id="{7EE46DEF-B863-875E-ED97-F21187CDBB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C4E149-D924-52DB-A1FC-26698A798F9A}"/>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3626802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3E335-1F7D-B982-EA67-D51656D59A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246C2E-2083-537C-9CE2-CC24FBFA7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5E3D2D-E937-C4B7-A633-DB9351FCAB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3D6325-E63D-009E-D47F-FC8DC4DEB3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72677-4495-A027-E411-8C63B2794A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87E510-5AD9-CDAE-C713-0D87EFC4402A}"/>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8" name="Footer Placeholder 7">
            <a:extLst>
              <a:ext uri="{FF2B5EF4-FFF2-40B4-BE49-F238E27FC236}">
                <a16:creationId xmlns:a16="http://schemas.microsoft.com/office/drawing/2014/main" id="{8BBC3C0F-DAC9-E4AB-E2EA-5676CA4D16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15194E-7E82-67E7-4222-A158A52A7A96}"/>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286292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09E3F-4569-169D-63C2-240EF3C2FF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3AF4D7-FDC9-411D-F759-5B2E043D5784}"/>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4" name="Footer Placeholder 3">
            <a:extLst>
              <a:ext uri="{FF2B5EF4-FFF2-40B4-BE49-F238E27FC236}">
                <a16:creationId xmlns:a16="http://schemas.microsoft.com/office/drawing/2014/main" id="{A800A6DA-58C3-E433-34B9-12B6623607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810C9B-E2FD-A98E-FBC5-00C2D3D4C820}"/>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706875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FFE283-75EE-D960-802E-F4FF576E0757}"/>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3" name="Footer Placeholder 2">
            <a:extLst>
              <a:ext uri="{FF2B5EF4-FFF2-40B4-BE49-F238E27FC236}">
                <a16:creationId xmlns:a16="http://schemas.microsoft.com/office/drawing/2014/main" id="{8A1775D0-9FB7-0E7A-7628-78DCBBF76E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1D76E3-6917-F276-CEA3-FCA6B760C8BF}"/>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24147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53749-DF5F-C13C-B999-550FC5C0D2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D6E1A8-92F2-4D50-BDD2-3802BD0958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F2DCF0-DDD5-3424-39EF-1DAA1096F5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720C6-9B3A-D30E-7E04-FA93A83DD103}"/>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6" name="Footer Placeholder 5">
            <a:extLst>
              <a:ext uri="{FF2B5EF4-FFF2-40B4-BE49-F238E27FC236}">
                <a16:creationId xmlns:a16="http://schemas.microsoft.com/office/drawing/2014/main" id="{DD36DD4A-625C-6B73-5565-D73F850F05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712FE5-BC07-F987-D3DA-4632CD474801}"/>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2201393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6BC6C-3A91-BB71-532B-57F43D03CE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2D52A1-A37C-4213-1CDB-8B8BBA68F3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65CBEC-63D6-C36A-3810-5DE279A2A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4150A1-4A3C-69AB-4642-8E8A3F5644EB}"/>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6" name="Footer Placeholder 5">
            <a:extLst>
              <a:ext uri="{FF2B5EF4-FFF2-40B4-BE49-F238E27FC236}">
                <a16:creationId xmlns:a16="http://schemas.microsoft.com/office/drawing/2014/main" id="{342F982D-D7FF-1EDB-83D1-6B515A1839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8828B1-9474-9BCA-D59E-EBC02C40A527}"/>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3946573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6F86-B1A7-6A7A-435B-0E4ADE7F6A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46FCBA-65A4-79F5-8E30-66E80BE9B0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714AC-ADBB-CBE3-AC38-205F3EFEDF42}"/>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5" name="Footer Placeholder 4">
            <a:extLst>
              <a:ext uri="{FF2B5EF4-FFF2-40B4-BE49-F238E27FC236}">
                <a16:creationId xmlns:a16="http://schemas.microsoft.com/office/drawing/2014/main" id="{48C51FEF-71BC-9FB7-839A-32DECCF3C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148124-827F-380C-2A3D-6BAE6FA35F62}"/>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3718558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093317-D490-1920-6342-F410F1686D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EED5F0-3928-C6CE-96EB-85DA7B4B5D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156486-6CD3-D33E-CDDB-A687958D56E7}"/>
              </a:ext>
            </a:extLst>
          </p:cNvPr>
          <p:cNvSpPr>
            <a:spLocks noGrp="1"/>
          </p:cNvSpPr>
          <p:nvPr>
            <p:ph type="dt" sz="half" idx="10"/>
          </p:nvPr>
        </p:nvSpPr>
        <p:spPr/>
        <p:txBody>
          <a:bodyPr/>
          <a:lstStyle/>
          <a:p>
            <a:fld id="{7C25EE99-9B7E-EF4B-9A8A-BC6B20DEBACB}" type="datetimeFigureOut">
              <a:rPr lang="en-US" smtClean="0"/>
              <a:t>3/20/23</a:t>
            </a:fld>
            <a:endParaRPr lang="en-US"/>
          </a:p>
        </p:txBody>
      </p:sp>
      <p:sp>
        <p:nvSpPr>
          <p:cNvPr id="5" name="Footer Placeholder 4">
            <a:extLst>
              <a:ext uri="{FF2B5EF4-FFF2-40B4-BE49-F238E27FC236}">
                <a16:creationId xmlns:a16="http://schemas.microsoft.com/office/drawing/2014/main" id="{81667EB8-3B5F-782F-AA57-500F0FDDE8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54487-C526-7374-56CC-01D99B8E1728}"/>
              </a:ext>
            </a:extLst>
          </p:cNvPr>
          <p:cNvSpPr>
            <a:spLocks noGrp="1"/>
          </p:cNvSpPr>
          <p:nvPr>
            <p:ph type="sldNum" sz="quarter" idx="12"/>
          </p:nvPr>
        </p:nvSpPr>
        <p:spPr/>
        <p:txBody>
          <a:bodyPr/>
          <a:lstStyle/>
          <a:p>
            <a:fld id="{74A83B28-AC11-5740-9BC1-FA9CF50F19D5}" type="slidenum">
              <a:rPr lang="en-US" smtClean="0"/>
              <a:t>‹#›</a:t>
            </a:fld>
            <a:endParaRPr lang="en-US"/>
          </a:p>
        </p:txBody>
      </p:sp>
    </p:spTree>
    <p:extLst>
      <p:ext uri="{BB962C8B-B14F-4D97-AF65-F5344CB8AC3E}">
        <p14:creationId xmlns:p14="http://schemas.microsoft.com/office/powerpoint/2010/main" val="4161678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6DF254-4478-1C86-448E-90F77F0A8D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AB73B9-29D9-1DD7-A9AE-745C9ACFE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E9CF5-0847-2415-0443-87ABD7AFA8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25EE99-9B7E-EF4B-9A8A-BC6B20DEBACB}" type="datetimeFigureOut">
              <a:rPr lang="en-US" smtClean="0"/>
              <a:t>3/20/23</a:t>
            </a:fld>
            <a:endParaRPr lang="en-US"/>
          </a:p>
        </p:txBody>
      </p:sp>
      <p:sp>
        <p:nvSpPr>
          <p:cNvPr id="5" name="Footer Placeholder 4">
            <a:extLst>
              <a:ext uri="{FF2B5EF4-FFF2-40B4-BE49-F238E27FC236}">
                <a16:creationId xmlns:a16="http://schemas.microsoft.com/office/drawing/2014/main" id="{CD4748F5-CD71-AA01-47C4-D283F7A79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C3BCFE-6EF1-4A0D-BDD9-C9440B821C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A83B28-AC11-5740-9BC1-FA9CF50F19D5}" type="slidenum">
              <a:rPr lang="en-US" smtClean="0"/>
              <a:t>‹#›</a:t>
            </a:fld>
            <a:endParaRPr lang="en-US"/>
          </a:p>
        </p:txBody>
      </p:sp>
    </p:spTree>
    <p:extLst>
      <p:ext uri="{BB962C8B-B14F-4D97-AF65-F5344CB8AC3E}">
        <p14:creationId xmlns:p14="http://schemas.microsoft.com/office/powerpoint/2010/main" val="543178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nerasmus@saao.ac.za" TargetMode="External"/><Relationship Id="rId2" Type="http://schemas.openxmlformats.org/officeDocument/2006/relationships/hyperlink" Target="mailto:tlinder34@gmail.com" TargetMode="External"/><Relationship Id="rId1" Type="http://schemas.openxmlformats.org/officeDocument/2006/relationships/slideLayout" Target="../slideLayouts/slideLayout2.xml"/><Relationship Id="rId6" Type="http://schemas.openxmlformats.org/officeDocument/2006/relationships/hyperlink" Target="mailto:lance.benner@jpl.nasa.gov" TargetMode="External"/><Relationship Id="rId5" Type="http://schemas.openxmlformats.org/officeDocument/2006/relationships/hyperlink" Target="mailto:jmasiero@ipac.Caltech.edu" TargetMode="External"/><Relationship Id="rId4" Type="http://schemas.openxmlformats.org/officeDocument/2006/relationships/hyperlink" Target="mailto:Cristina.Thomas@nau.edu"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C461E-C758-7BE6-90E9-035389BADB57}"/>
              </a:ext>
            </a:extLst>
          </p:cNvPr>
          <p:cNvSpPr>
            <a:spLocks noGrp="1"/>
          </p:cNvSpPr>
          <p:nvPr>
            <p:ph type="ctrTitle"/>
          </p:nvPr>
        </p:nvSpPr>
        <p:spPr/>
        <p:txBody>
          <a:bodyPr/>
          <a:lstStyle/>
          <a:p>
            <a:r>
              <a:rPr lang="en-US" dirty="0"/>
              <a:t>IAWN Rapid Characterization Campaign: 2023 DZ2 </a:t>
            </a:r>
          </a:p>
        </p:txBody>
      </p:sp>
      <p:sp>
        <p:nvSpPr>
          <p:cNvPr id="3" name="Subtitle 2">
            <a:extLst>
              <a:ext uri="{FF2B5EF4-FFF2-40B4-BE49-F238E27FC236}">
                <a16:creationId xmlns:a16="http://schemas.microsoft.com/office/drawing/2014/main" id="{5C1A1803-7F80-2BDA-F145-2EB61FA53E1C}"/>
              </a:ext>
            </a:extLst>
          </p:cNvPr>
          <p:cNvSpPr>
            <a:spLocks noGrp="1"/>
          </p:cNvSpPr>
          <p:nvPr>
            <p:ph type="subTitle" idx="1"/>
          </p:nvPr>
        </p:nvSpPr>
        <p:spPr>
          <a:xfrm>
            <a:off x="1524000" y="4301706"/>
            <a:ext cx="9144000" cy="1984074"/>
          </a:xfrm>
        </p:spPr>
        <p:txBody>
          <a:bodyPr>
            <a:normAutofit/>
          </a:bodyPr>
          <a:lstStyle/>
          <a:p>
            <a:r>
              <a:rPr lang="en-US" dirty="0"/>
              <a:t>Vishnu Reddy (IAWN Campaign Coordinator)</a:t>
            </a:r>
          </a:p>
          <a:p>
            <a:r>
              <a:rPr lang="en-US" dirty="0"/>
              <a:t>Michael Kelley (NASA PDCO)</a:t>
            </a:r>
          </a:p>
          <a:p>
            <a:r>
              <a:rPr lang="en-US" dirty="0"/>
              <a:t>Davide Farnocchia (JPL CNEOS)</a:t>
            </a:r>
          </a:p>
          <a:p>
            <a:r>
              <a:rPr lang="en-US" dirty="0" err="1"/>
              <a:t>Gerbs</a:t>
            </a:r>
            <a:r>
              <a:rPr lang="en-US" dirty="0"/>
              <a:t> Baur, Elizabeth Warner, Tony </a:t>
            </a:r>
            <a:r>
              <a:rPr lang="en-US" dirty="0" err="1"/>
              <a:t>Farhnam</a:t>
            </a:r>
            <a:r>
              <a:rPr lang="en-US" dirty="0"/>
              <a:t> (UMD/NASA PDS SBN)</a:t>
            </a:r>
          </a:p>
        </p:txBody>
      </p:sp>
    </p:spTree>
    <p:extLst>
      <p:ext uri="{BB962C8B-B14F-4D97-AF65-F5344CB8AC3E}">
        <p14:creationId xmlns:p14="http://schemas.microsoft.com/office/powerpoint/2010/main" val="3751503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CC3B-C6BF-5FAD-F9E6-1C6441C9C042}"/>
              </a:ext>
            </a:extLst>
          </p:cNvPr>
          <p:cNvSpPr>
            <a:spLocks noGrp="1"/>
          </p:cNvSpPr>
          <p:nvPr>
            <p:ph type="title"/>
          </p:nvPr>
        </p:nvSpPr>
        <p:spPr>
          <a:xfrm>
            <a:off x="366623" y="250107"/>
            <a:ext cx="2658374" cy="992098"/>
          </a:xfrm>
        </p:spPr>
        <p:txBody>
          <a:bodyPr/>
          <a:lstStyle/>
          <a:p>
            <a:r>
              <a:rPr lang="en-US" dirty="0"/>
              <a:t>Overview</a:t>
            </a:r>
          </a:p>
        </p:txBody>
      </p:sp>
      <p:sp>
        <p:nvSpPr>
          <p:cNvPr id="3" name="Content Placeholder 2">
            <a:extLst>
              <a:ext uri="{FF2B5EF4-FFF2-40B4-BE49-F238E27FC236}">
                <a16:creationId xmlns:a16="http://schemas.microsoft.com/office/drawing/2014/main" id="{51D3D7E7-2EC6-F065-C3DE-04EFA2D7C937}"/>
              </a:ext>
            </a:extLst>
          </p:cNvPr>
          <p:cNvSpPr>
            <a:spLocks noGrp="1"/>
          </p:cNvSpPr>
          <p:nvPr>
            <p:ph idx="1"/>
          </p:nvPr>
        </p:nvSpPr>
        <p:spPr>
          <a:xfrm>
            <a:off x="435634" y="1135511"/>
            <a:ext cx="11572336" cy="5472381"/>
          </a:xfrm>
        </p:spPr>
        <p:txBody>
          <a:bodyPr>
            <a:normAutofit/>
          </a:bodyPr>
          <a:lstStyle/>
          <a:p>
            <a:r>
              <a:rPr lang="en-US" dirty="0"/>
              <a:t>On March 16, 2023, the Minor Planet Center announced the discovery of near-Earth asteroid 2023 DZ2 by joint Romanian-Spanish team Para-SOL (MPC Code 950). </a:t>
            </a:r>
          </a:p>
          <a:p>
            <a:endParaRPr lang="en-US" dirty="0"/>
          </a:p>
          <a:p>
            <a:r>
              <a:rPr lang="en-US" u="sng" dirty="0"/>
              <a:t>Observers:</a:t>
            </a:r>
            <a:r>
              <a:rPr lang="en-US" dirty="0"/>
              <a:t> O. </a:t>
            </a:r>
            <a:r>
              <a:rPr lang="en-US" dirty="0" err="1"/>
              <a:t>Vaduvescu</a:t>
            </a:r>
            <a:r>
              <a:rPr lang="en-US" dirty="0"/>
              <a:t>, F. Barwell, K. </a:t>
            </a:r>
            <a:r>
              <a:rPr lang="en-US" dirty="0" err="1"/>
              <a:t>Jhass</a:t>
            </a:r>
            <a:r>
              <a:rPr lang="en-US" dirty="0"/>
              <a:t>, M. Popescu, C. de la Fuente Marcos, R. de la Fuente Marcos.  Measurers C. </a:t>
            </a:r>
            <a:r>
              <a:rPr lang="en-US" dirty="0" err="1"/>
              <a:t>Boldea</a:t>
            </a:r>
            <a:r>
              <a:rPr lang="en-US" dirty="0"/>
              <a:t>, D. </a:t>
            </a:r>
            <a:r>
              <a:rPr lang="en-US" dirty="0" err="1"/>
              <a:t>Bertesteanu</a:t>
            </a:r>
            <a:r>
              <a:rPr lang="en-US" dirty="0"/>
              <a:t>, O. </a:t>
            </a:r>
            <a:r>
              <a:rPr lang="en-US" dirty="0" err="1"/>
              <a:t>Vaduvescu</a:t>
            </a:r>
            <a:r>
              <a:rPr lang="en-US" dirty="0"/>
              <a:t>, M. Popescu, M. Stanescu, M. </a:t>
            </a:r>
            <a:r>
              <a:rPr lang="en-US" dirty="0" err="1"/>
              <a:t>Predatu</a:t>
            </a:r>
            <a:r>
              <a:rPr lang="en-US" dirty="0"/>
              <a:t>, L. </a:t>
            </a:r>
            <a:r>
              <a:rPr lang="en-US" dirty="0" err="1"/>
              <a:t>Curelaru</a:t>
            </a:r>
            <a:r>
              <a:rPr lang="en-US" dirty="0"/>
              <a:t>.</a:t>
            </a:r>
          </a:p>
          <a:p>
            <a:endParaRPr lang="en-US" dirty="0"/>
          </a:p>
          <a:p>
            <a:r>
              <a:rPr lang="en-US" dirty="0"/>
              <a:t>The asteroid is headed for a close approach within half the lunar distance from the Earth on March 25, 2023. Based on its absolute magnitude H=23.7, the expected size of 2023 DZ2 is in the range 50 m to 110 m.</a:t>
            </a:r>
          </a:p>
          <a:p>
            <a:pPr marL="0" indent="0">
              <a:buNone/>
            </a:pPr>
            <a:endParaRPr lang="en-US" sz="2400" dirty="0"/>
          </a:p>
          <a:p>
            <a:endParaRPr lang="en-US" sz="2400" dirty="0"/>
          </a:p>
        </p:txBody>
      </p:sp>
    </p:spTree>
    <p:extLst>
      <p:ext uri="{BB962C8B-B14F-4D97-AF65-F5344CB8AC3E}">
        <p14:creationId xmlns:p14="http://schemas.microsoft.com/office/powerpoint/2010/main" val="359673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CC3B-C6BF-5FAD-F9E6-1C6441C9C042}"/>
              </a:ext>
            </a:extLst>
          </p:cNvPr>
          <p:cNvSpPr>
            <a:spLocks noGrp="1"/>
          </p:cNvSpPr>
          <p:nvPr>
            <p:ph type="title"/>
          </p:nvPr>
        </p:nvSpPr>
        <p:spPr>
          <a:xfrm>
            <a:off x="366623" y="250107"/>
            <a:ext cx="2658374" cy="992098"/>
          </a:xfrm>
        </p:spPr>
        <p:txBody>
          <a:bodyPr/>
          <a:lstStyle/>
          <a:p>
            <a:r>
              <a:rPr lang="en-US" dirty="0"/>
              <a:t>Overview</a:t>
            </a:r>
          </a:p>
        </p:txBody>
      </p:sp>
      <p:sp>
        <p:nvSpPr>
          <p:cNvPr id="3" name="Content Placeholder 2">
            <a:extLst>
              <a:ext uri="{FF2B5EF4-FFF2-40B4-BE49-F238E27FC236}">
                <a16:creationId xmlns:a16="http://schemas.microsoft.com/office/drawing/2014/main" id="{51D3D7E7-2EC6-F065-C3DE-04EFA2D7C937}"/>
              </a:ext>
            </a:extLst>
          </p:cNvPr>
          <p:cNvSpPr>
            <a:spLocks noGrp="1"/>
          </p:cNvSpPr>
          <p:nvPr>
            <p:ph idx="1"/>
          </p:nvPr>
        </p:nvSpPr>
        <p:spPr>
          <a:xfrm>
            <a:off x="435634" y="1135511"/>
            <a:ext cx="11572336" cy="5472381"/>
          </a:xfrm>
        </p:spPr>
        <p:txBody>
          <a:bodyPr>
            <a:normAutofit/>
          </a:bodyPr>
          <a:lstStyle/>
          <a:p>
            <a:r>
              <a:rPr lang="en-US" dirty="0"/>
              <a:t>This close approach represents an ideal opportunity for an IAWN rapid response </a:t>
            </a:r>
            <a:r>
              <a:rPr lang="en-US" u="sng" dirty="0"/>
              <a:t>characterization</a:t>
            </a:r>
            <a:r>
              <a:rPr lang="en-US" dirty="0"/>
              <a:t> campaign - an IAWN campaign to exercise the capability of the planetary defense community to collect observations and physically </a:t>
            </a:r>
            <a:r>
              <a:rPr lang="en-US" u="sng" dirty="0"/>
              <a:t>characterize</a:t>
            </a:r>
            <a:r>
              <a:rPr lang="en-US" dirty="0"/>
              <a:t> the object on a </a:t>
            </a:r>
            <a:r>
              <a:rPr lang="en-US" u="sng" dirty="0"/>
              <a:t>very short notice</a:t>
            </a:r>
            <a:r>
              <a:rPr lang="en-US" dirty="0"/>
              <a:t>.</a:t>
            </a:r>
          </a:p>
          <a:p>
            <a:endParaRPr lang="en-US" dirty="0"/>
          </a:p>
          <a:p>
            <a:r>
              <a:rPr lang="en-US" u="sng" dirty="0"/>
              <a:t>Characterization:</a:t>
            </a:r>
            <a:r>
              <a:rPr lang="en-US" dirty="0"/>
              <a:t> Size, Shape, Albedo, Composition, Rotation Period, binary nature.</a:t>
            </a:r>
          </a:p>
          <a:p>
            <a:endParaRPr lang="en-US" u="sng" dirty="0"/>
          </a:p>
          <a:p>
            <a:r>
              <a:rPr lang="en-US" u="sng" dirty="0"/>
              <a:t>Observing Window: </a:t>
            </a:r>
            <a:r>
              <a:rPr lang="en-US" dirty="0"/>
              <a:t>Monday March 20, 2023, at 13:00 UTC and ends on Monday March 27, 2023, at 13:00 UTC. Characterization data collected only during this window will be used for the campaign. </a:t>
            </a:r>
          </a:p>
          <a:p>
            <a:pPr marL="0" indent="0">
              <a:buNone/>
            </a:pPr>
            <a:endParaRPr lang="en-US" sz="2400" dirty="0"/>
          </a:p>
          <a:p>
            <a:endParaRPr lang="en-US" sz="2400" dirty="0"/>
          </a:p>
        </p:txBody>
      </p:sp>
    </p:spTree>
    <p:extLst>
      <p:ext uri="{BB962C8B-B14F-4D97-AF65-F5344CB8AC3E}">
        <p14:creationId xmlns:p14="http://schemas.microsoft.com/office/powerpoint/2010/main" val="1567147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CC3B-C6BF-5FAD-F9E6-1C6441C9C042}"/>
              </a:ext>
            </a:extLst>
          </p:cNvPr>
          <p:cNvSpPr>
            <a:spLocks noGrp="1"/>
          </p:cNvSpPr>
          <p:nvPr>
            <p:ph type="title"/>
          </p:nvPr>
        </p:nvSpPr>
        <p:spPr>
          <a:xfrm>
            <a:off x="366623" y="250107"/>
            <a:ext cx="2658374" cy="992098"/>
          </a:xfrm>
        </p:spPr>
        <p:txBody>
          <a:bodyPr/>
          <a:lstStyle/>
          <a:p>
            <a:r>
              <a:rPr lang="en-US" dirty="0"/>
              <a:t>Logistics</a:t>
            </a:r>
          </a:p>
        </p:txBody>
      </p:sp>
      <p:sp>
        <p:nvSpPr>
          <p:cNvPr id="3" name="Content Placeholder 2">
            <a:extLst>
              <a:ext uri="{FF2B5EF4-FFF2-40B4-BE49-F238E27FC236}">
                <a16:creationId xmlns:a16="http://schemas.microsoft.com/office/drawing/2014/main" id="{51D3D7E7-2EC6-F065-C3DE-04EFA2D7C937}"/>
              </a:ext>
            </a:extLst>
          </p:cNvPr>
          <p:cNvSpPr>
            <a:spLocks noGrp="1"/>
          </p:cNvSpPr>
          <p:nvPr>
            <p:ph idx="1"/>
          </p:nvPr>
        </p:nvSpPr>
        <p:spPr>
          <a:xfrm>
            <a:off x="230037" y="1135511"/>
            <a:ext cx="11892951" cy="5472381"/>
          </a:xfrm>
        </p:spPr>
        <p:txBody>
          <a:bodyPr>
            <a:normAutofit/>
          </a:bodyPr>
          <a:lstStyle/>
          <a:p>
            <a:r>
              <a:rPr lang="en-US" sz="2400" dirty="0"/>
              <a:t>There will be three telecons during this limited observing window to discuss the results of the campaign as they become available. </a:t>
            </a:r>
          </a:p>
          <a:p>
            <a:r>
              <a:rPr lang="en-US" sz="2400" dirty="0"/>
              <a:t>The first kickoff teleconference will be held on Tuesday March 21, 2023, at 1300 UTC. The second teleconference will be held on Thursday March 23, 2023, at 1300 UTC and the final closeout teleconference will be held on Monday March 27, 2023, at 1300 UTC. Teleconferences will be for 1-hour duration.</a:t>
            </a:r>
          </a:p>
          <a:p>
            <a:r>
              <a:rPr lang="en-US" sz="2400" dirty="0"/>
              <a:t>Volunteer working group leads will coordinate various results for dissemination during telecons. Tentative List of WGs: Photometry, Spectroscopy, Thermal Modeling, Radar. </a:t>
            </a:r>
          </a:p>
          <a:p>
            <a:r>
              <a:rPr lang="en-US" sz="2400" dirty="0"/>
              <a:t>Working Group Leads: Please email your </a:t>
            </a:r>
            <a:r>
              <a:rPr lang="en-US" sz="2400" b="1" u="sng" dirty="0"/>
              <a:t>reduced</a:t>
            </a:r>
            <a:r>
              <a:rPr lang="en-US" sz="2400" dirty="0"/>
              <a:t> observations to WG leads </a:t>
            </a:r>
          </a:p>
          <a:p>
            <a:r>
              <a:rPr lang="en-US" sz="2400" b="1" u="sng" dirty="0"/>
              <a:t>Photometry: </a:t>
            </a:r>
            <a:r>
              <a:rPr lang="en-US" sz="2400" dirty="0"/>
              <a:t>Tyler Linder (</a:t>
            </a:r>
            <a:r>
              <a:rPr lang="en-US" sz="2400" dirty="0">
                <a:hlinkClick r:id="rId2"/>
              </a:rPr>
              <a:t>tlinder34@gmail.com</a:t>
            </a:r>
            <a:r>
              <a:rPr lang="en-US" sz="2400" dirty="0"/>
              <a:t>)/Nick Erasmus(</a:t>
            </a:r>
            <a:r>
              <a:rPr lang="en-US" sz="2400" dirty="0">
                <a:hlinkClick r:id="rId3"/>
              </a:rPr>
              <a:t>nerasmus@saao.ac.za</a:t>
            </a:r>
            <a:r>
              <a:rPr lang="en-US" sz="2400" dirty="0"/>
              <a:t>)</a:t>
            </a:r>
          </a:p>
          <a:p>
            <a:r>
              <a:rPr lang="en-US" sz="2400" b="1" u="sng" dirty="0"/>
              <a:t>Spectroscopy: </a:t>
            </a:r>
            <a:r>
              <a:rPr lang="en-US" sz="2400" dirty="0"/>
              <a:t>Cristina Thomas (</a:t>
            </a:r>
            <a:r>
              <a:rPr lang="en-US" sz="2400" dirty="0">
                <a:hlinkClick r:id="rId4"/>
              </a:rPr>
              <a:t>Cristina.Thomas@nau.edu</a:t>
            </a:r>
            <a:r>
              <a:rPr lang="en-US" sz="2400" dirty="0"/>
              <a:t>)</a:t>
            </a:r>
          </a:p>
          <a:p>
            <a:r>
              <a:rPr lang="en-US" sz="2400" b="1" u="sng" dirty="0"/>
              <a:t>Thermal Modeling: </a:t>
            </a:r>
            <a:r>
              <a:rPr lang="en-US" sz="2400" dirty="0"/>
              <a:t>Joe </a:t>
            </a:r>
            <a:r>
              <a:rPr lang="en-US" sz="2400" dirty="0" err="1"/>
              <a:t>Masiero</a:t>
            </a:r>
            <a:r>
              <a:rPr lang="en-US" sz="2400" dirty="0"/>
              <a:t> (</a:t>
            </a:r>
            <a:r>
              <a:rPr lang="en-US" sz="2400" dirty="0">
                <a:hlinkClick r:id="rId5"/>
              </a:rPr>
              <a:t>jmasiero@ipac.Caltech.edu</a:t>
            </a:r>
            <a:r>
              <a:rPr lang="en-US" sz="2400" dirty="0"/>
              <a:t>)</a:t>
            </a:r>
          </a:p>
          <a:p>
            <a:r>
              <a:rPr lang="en-US" sz="2400" b="1" u="sng" dirty="0"/>
              <a:t>Radar: </a:t>
            </a:r>
            <a:r>
              <a:rPr lang="en-US" sz="2400" dirty="0"/>
              <a:t>Lance Benner (</a:t>
            </a:r>
            <a:r>
              <a:rPr lang="en-US" sz="2400" dirty="0">
                <a:hlinkClick r:id="rId6"/>
              </a:rPr>
              <a:t>lance.benner@jpl.nasa.gov</a:t>
            </a:r>
            <a:r>
              <a:rPr lang="en-US" sz="2400" dirty="0"/>
              <a:t>)</a:t>
            </a:r>
          </a:p>
          <a:p>
            <a:endParaRPr lang="en-US" sz="2400" dirty="0"/>
          </a:p>
        </p:txBody>
      </p:sp>
    </p:spTree>
    <p:extLst>
      <p:ext uri="{BB962C8B-B14F-4D97-AF65-F5344CB8AC3E}">
        <p14:creationId xmlns:p14="http://schemas.microsoft.com/office/powerpoint/2010/main" val="182115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able&#10;&#10;Description automatically generated">
            <a:extLst>
              <a:ext uri="{FF2B5EF4-FFF2-40B4-BE49-F238E27FC236}">
                <a16:creationId xmlns:a16="http://schemas.microsoft.com/office/drawing/2014/main" id="{ADE85AD0-6FDC-DCBD-2491-2DA114713E0E}"/>
              </a:ext>
            </a:extLst>
          </p:cNvPr>
          <p:cNvPicPr>
            <a:picLocks noChangeAspect="1"/>
          </p:cNvPicPr>
          <p:nvPr/>
        </p:nvPicPr>
        <p:blipFill>
          <a:blip r:embed="rId2"/>
          <a:stretch>
            <a:fillRect/>
          </a:stretch>
        </p:blipFill>
        <p:spPr>
          <a:xfrm>
            <a:off x="1892856" y="0"/>
            <a:ext cx="8406288" cy="6858000"/>
          </a:xfrm>
          <a:prstGeom prst="rect">
            <a:avLst/>
          </a:prstGeom>
        </p:spPr>
      </p:pic>
    </p:spTree>
    <p:extLst>
      <p:ext uri="{BB962C8B-B14F-4D97-AF65-F5344CB8AC3E}">
        <p14:creationId xmlns:p14="http://schemas.microsoft.com/office/powerpoint/2010/main" val="141245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 schematic&#10;&#10;Description automatically generated">
            <a:extLst>
              <a:ext uri="{FF2B5EF4-FFF2-40B4-BE49-F238E27FC236}">
                <a16:creationId xmlns:a16="http://schemas.microsoft.com/office/drawing/2014/main" id="{BBAAB9E6-2323-1E01-98EA-0DB47D04B2CF}"/>
              </a:ext>
            </a:extLst>
          </p:cNvPr>
          <p:cNvPicPr>
            <a:picLocks noChangeAspect="1"/>
          </p:cNvPicPr>
          <p:nvPr/>
        </p:nvPicPr>
        <p:blipFill>
          <a:blip r:embed="rId2"/>
          <a:stretch>
            <a:fillRect/>
          </a:stretch>
        </p:blipFill>
        <p:spPr>
          <a:xfrm>
            <a:off x="-4357920" y="-560617"/>
            <a:ext cx="20907839" cy="8752117"/>
          </a:xfrm>
          <a:prstGeom prst="rect">
            <a:avLst/>
          </a:prstGeom>
        </p:spPr>
      </p:pic>
      <p:sp>
        <p:nvSpPr>
          <p:cNvPr id="6" name="TextBox 5">
            <a:extLst>
              <a:ext uri="{FF2B5EF4-FFF2-40B4-BE49-F238E27FC236}">
                <a16:creationId xmlns:a16="http://schemas.microsoft.com/office/drawing/2014/main" id="{237DBF7C-3F79-162E-AE1C-8A90E5759807}"/>
              </a:ext>
            </a:extLst>
          </p:cNvPr>
          <p:cNvSpPr txBox="1"/>
          <p:nvPr/>
        </p:nvSpPr>
        <p:spPr>
          <a:xfrm>
            <a:off x="0" y="0"/>
            <a:ext cx="1798890" cy="3108543"/>
          </a:xfrm>
          <a:prstGeom prst="rect">
            <a:avLst/>
          </a:prstGeom>
          <a:noFill/>
        </p:spPr>
        <p:txBody>
          <a:bodyPr wrap="none" rtlCol="0">
            <a:spAutoFit/>
          </a:bodyPr>
          <a:lstStyle/>
          <a:p>
            <a:r>
              <a:rPr lang="en-US" sz="2800" dirty="0">
                <a:solidFill>
                  <a:schemeClr val="bg1"/>
                </a:solidFill>
              </a:rPr>
              <a:t>2023 DZ2</a:t>
            </a:r>
          </a:p>
          <a:p>
            <a:endParaRPr lang="en-US" sz="2800" dirty="0">
              <a:solidFill>
                <a:schemeClr val="bg1"/>
              </a:solidFill>
            </a:endParaRPr>
          </a:p>
          <a:p>
            <a:r>
              <a:rPr lang="en-US" sz="2800" dirty="0">
                <a:solidFill>
                  <a:schemeClr val="bg1"/>
                </a:solidFill>
              </a:rPr>
              <a:t>q = 0.99 au</a:t>
            </a:r>
          </a:p>
          <a:p>
            <a:r>
              <a:rPr lang="en-US" sz="2800" dirty="0">
                <a:solidFill>
                  <a:schemeClr val="bg1"/>
                </a:solidFill>
              </a:rPr>
              <a:t>e = 0.54</a:t>
            </a:r>
          </a:p>
          <a:p>
            <a:r>
              <a:rPr lang="en-US" sz="2800" dirty="0">
                <a:solidFill>
                  <a:schemeClr val="bg1"/>
                </a:solidFill>
              </a:rPr>
              <a:t>a =2.16 au</a:t>
            </a:r>
          </a:p>
          <a:p>
            <a:r>
              <a:rPr lang="en-US" sz="2800" dirty="0" err="1">
                <a:solidFill>
                  <a:schemeClr val="bg1"/>
                </a:solidFill>
              </a:rPr>
              <a:t>i</a:t>
            </a:r>
            <a:r>
              <a:rPr lang="en-US" sz="2800" dirty="0">
                <a:solidFill>
                  <a:schemeClr val="bg1"/>
                </a:solidFill>
              </a:rPr>
              <a:t> = 0.08</a:t>
            </a:r>
            <a:r>
              <a:rPr lang="en-US" sz="2800" i="0" dirty="0">
                <a:solidFill>
                  <a:schemeClr val="bg1"/>
                </a:solidFill>
                <a:effectLst/>
              </a:rPr>
              <a:t>°</a:t>
            </a:r>
          </a:p>
          <a:p>
            <a:r>
              <a:rPr lang="en-US" sz="2800" dirty="0">
                <a:solidFill>
                  <a:schemeClr val="bg1"/>
                </a:solidFill>
              </a:rPr>
              <a:t>P =3.16 </a:t>
            </a:r>
            <a:r>
              <a:rPr lang="en-US" sz="2800" dirty="0" err="1">
                <a:solidFill>
                  <a:schemeClr val="bg1"/>
                </a:solidFill>
              </a:rPr>
              <a:t>yr</a:t>
            </a:r>
            <a:endParaRPr lang="en-US" sz="2800" dirty="0">
              <a:solidFill>
                <a:schemeClr val="bg1"/>
              </a:solidFill>
            </a:endParaRPr>
          </a:p>
        </p:txBody>
      </p:sp>
    </p:spTree>
    <p:extLst>
      <p:ext uri="{BB962C8B-B14F-4D97-AF65-F5344CB8AC3E}">
        <p14:creationId xmlns:p14="http://schemas.microsoft.com/office/powerpoint/2010/main" val="4107137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lanet in space&#10;&#10;Description automatically generated with low confidence">
            <a:extLst>
              <a:ext uri="{FF2B5EF4-FFF2-40B4-BE49-F238E27FC236}">
                <a16:creationId xmlns:a16="http://schemas.microsoft.com/office/drawing/2014/main" id="{EA7BD36E-3971-C99C-DB75-511EF37EE86D}"/>
              </a:ext>
            </a:extLst>
          </p:cNvPr>
          <p:cNvPicPr>
            <a:picLocks noChangeAspect="1"/>
          </p:cNvPicPr>
          <p:nvPr/>
        </p:nvPicPr>
        <p:blipFill>
          <a:blip r:embed="rId2"/>
          <a:stretch>
            <a:fillRect/>
          </a:stretch>
        </p:blipFill>
        <p:spPr>
          <a:xfrm>
            <a:off x="-2095502" y="0"/>
            <a:ext cx="16383004" cy="6858000"/>
          </a:xfrm>
          <a:prstGeom prst="rect">
            <a:avLst/>
          </a:prstGeom>
        </p:spPr>
      </p:pic>
      <p:sp>
        <p:nvSpPr>
          <p:cNvPr id="6" name="TextBox 5">
            <a:extLst>
              <a:ext uri="{FF2B5EF4-FFF2-40B4-BE49-F238E27FC236}">
                <a16:creationId xmlns:a16="http://schemas.microsoft.com/office/drawing/2014/main" id="{F68ACDF3-2FDE-8DD5-A4AD-647B5CDCEDA1}"/>
              </a:ext>
            </a:extLst>
          </p:cNvPr>
          <p:cNvSpPr txBox="1"/>
          <p:nvPr/>
        </p:nvSpPr>
        <p:spPr>
          <a:xfrm>
            <a:off x="79021" y="286590"/>
            <a:ext cx="3668890" cy="6124754"/>
          </a:xfrm>
          <a:prstGeom prst="rect">
            <a:avLst/>
          </a:prstGeom>
          <a:noFill/>
        </p:spPr>
        <p:txBody>
          <a:bodyPr wrap="square" rtlCol="0">
            <a:spAutoFit/>
          </a:bodyPr>
          <a:lstStyle/>
          <a:p>
            <a:r>
              <a:rPr lang="en-US" sz="2800" dirty="0">
                <a:solidFill>
                  <a:schemeClr val="bg1"/>
                </a:solidFill>
              </a:rPr>
              <a:t>0.45 LD</a:t>
            </a:r>
          </a:p>
          <a:p>
            <a:r>
              <a:rPr lang="en-US" sz="2800" dirty="0">
                <a:solidFill>
                  <a:schemeClr val="bg1"/>
                </a:solidFill>
              </a:rPr>
              <a:t>2023 Mar 25 19:50 UTC</a:t>
            </a:r>
          </a:p>
          <a:p>
            <a:r>
              <a:rPr lang="en-US" sz="2800" dirty="0">
                <a:solidFill>
                  <a:schemeClr val="bg1"/>
                </a:solidFill>
              </a:rPr>
              <a:t>7.8 km/s</a:t>
            </a:r>
          </a:p>
          <a:p>
            <a:endParaRPr lang="en-US" sz="2800" dirty="0">
              <a:solidFill>
                <a:schemeClr val="bg1"/>
              </a:solidFill>
            </a:endParaRPr>
          </a:p>
          <a:p>
            <a:r>
              <a:rPr lang="en-US" sz="2800" dirty="0">
                <a:solidFill>
                  <a:schemeClr val="bg1"/>
                </a:solidFill>
              </a:rPr>
              <a:t>H = 23.98</a:t>
            </a:r>
          </a:p>
          <a:p>
            <a:r>
              <a:rPr lang="en-US" sz="2800" dirty="0">
                <a:solidFill>
                  <a:schemeClr val="bg1"/>
                </a:solidFill>
              </a:rPr>
              <a:t>40 m – 100 m</a:t>
            </a: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r>
              <a:rPr lang="en-US" sz="2800" dirty="0">
                <a:solidFill>
                  <a:schemeClr val="bg1"/>
                </a:solidFill>
              </a:rPr>
              <a:t>Once per decade    close approach</a:t>
            </a:r>
          </a:p>
        </p:txBody>
      </p:sp>
    </p:spTree>
    <p:extLst>
      <p:ext uri="{BB962C8B-B14F-4D97-AF65-F5344CB8AC3E}">
        <p14:creationId xmlns:p14="http://schemas.microsoft.com/office/powerpoint/2010/main" val="86916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F41882-A5BB-452E-28C2-7BDB126A4875}"/>
              </a:ext>
            </a:extLst>
          </p:cNvPr>
          <p:cNvPicPr>
            <a:picLocks noChangeAspect="1"/>
          </p:cNvPicPr>
          <p:nvPr/>
        </p:nvPicPr>
        <p:blipFill>
          <a:blip r:embed="rId2"/>
          <a:stretch>
            <a:fillRect/>
          </a:stretch>
        </p:blipFill>
        <p:spPr>
          <a:xfrm>
            <a:off x="1869367" y="25668"/>
            <a:ext cx="8453267" cy="6832332"/>
          </a:xfrm>
          <a:prstGeom prst="rect">
            <a:avLst/>
          </a:prstGeom>
        </p:spPr>
      </p:pic>
      <p:cxnSp>
        <p:nvCxnSpPr>
          <p:cNvPr id="7" name="Straight Arrow Connector 6">
            <a:extLst>
              <a:ext uri="{FF2B5EF4-FFF2-40B4-BE49-F238E27FC236}">
                <a16:creationId xmlns:a16="http://schemas.microsoft.com/office/drawing/2014/main" id="{8CCB9828-CD33-71D6-CAA1-7E267B3455EE}"/>
              </a:ext>
            </a:extLst>
          </p:cNvPr>
          <p:cNvCxnSpPr>
            <a:cxnSpLocks/>
          </p:cNvCxnSpPr>
          <p:nvPr/>
        </p:nvCxnSpPr>
        <p:spPr>
          <a:xfrm flipV="1">
            <a:off x="5655733" y="553156"/>
            <a:ext cx="0" cy="18739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5FCF163-F686-B9FD-C13A-F98BB3BD59F7}"/>
              </a:ext>
            </a:extLst>
          </p:cNvPr>
          <p:cNvSpPr txBox="1"/>
          <p:nvPr/>
        </p:nvSpPr>
        <p:spPr>
          <a:xfrm rot="16200000">
            <a:off x="3886659" y="3934576"/>
            <a:ext cx="3538148" cy="523220"/>
          </a:xfrm>
          <a:prstGeom prst="rect">
            <a:avLst/>
          </a:prstGeom>
          <a:noFill/>
        </p:spPr>
        <p:txBody>
          <a:bodyPr wrap="none" rtlCol="0">
            <a:spAutoFit/>
          </a:bodyPr>
          <a:lstStyle/>
          <a:p>
            <a:r>
              <a:rPr lang="en-US" sz="2800" dirty="0">
                <a:solidFill>
                  <a:srgbClr val="FF0000"/>
                </a:solidFill>
              </a:rPr>
              <a:t>CSS and PS </a:t>
            </a:r>
            <a:r>
              <a:rPr lang="en-US" sz="2800" dirty="0" err="1">
                <a:solidFill>
                  <a:srgbClr val="FF0000"/>
                </a:solidFill>
              </a:rPr>
              <a:t>precoveries</a:t>
            </a:r>
            <a:endParaRPr lang="en-US" sz="2800" dirty="0">
              <a:solidFill>
                <a:srgbClr val="FF0000"/>
              </a:solidFill>
            </a:endParaRPr>
          </a:p>
        </p:txBody>
      </p:sp>
    </p:spTree>
    <p:extLst>
      <p:ext uri="{BB962C8B-B14F-4D97-AF65-F5344CB8AC3E}">
        <p14:creationId xmlns:p14="http://schemas.microsoft.com/office/powerpoint/2010/main" val="1259709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F41882-A5BB-452E-28C2-7BDB126A4875}"/>
              </a:ext>
            </a:extLst>
          </p:cNvPr>
          <p:cNvPicPr>
            <a:picLocks noChangeAspect="1"/>
          </p:cNvPicPr>
          <p:nvPr/>
        </p:nvPicPr>
        <p:blipFill>
          <a:blip r:embed="rId2"/>
          <a:stretch>
            <a:fillRect/>
          </a:stretch>
        </p:blipFill>
        <p:spPr>
          <a:xfrm>
            <a:off x="1869367" y="25668"/>
            <a:ext cx="8453267" cy="6832332"/>
          </a:xfrm>
          <a:prstGeom prst="rect">
            <a:avLst/>
          </a:prstGeom>
        </p:spPr>
      </p:pic>
      <p:cxnSp>
        <p:nvCxnSpPr>
          <p:cNvPr id="7" name="Straight Arrow Connector 6">
            <a:extLst>
              <a:ext uri="{FF2B5EF4-FFF2-40B4-BE49-F238E27FC236}">
                <a16:creationId xmlns:a16="http://schemas.microsoft.com/office/drawing/2014/main" id="{8CCB9828-CD33-71D6-CAA1-7E267B3455EE}"/>
              </a:ext>
            </a:extLst>
          </p:cNvPr>
          <p:cNvCxnSpPr>
            <a:cxnSpLocks/>
          </p:cNvCxnSpPr>
          <p:nvPr/>
        </p:nvCxnSpPr>
        <p:spPr>
          <a:xfrm flipV="1">
            <a:off x="5655733" y="553156"/>
            <a:ext cx="0" cy="18739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5FCF163-F686-B9FD-C13A-F98BB3BD59F7}"/>
              </a:ext>
            </a:extLst>
          </p:cNvPr>
          <p:cNvSpPr txBox="1"/>
          <p:nvPr/>
        </p:nvSpPr>
        <p:spPr>
          <a:xfrm rot="16200000">
            <a:off x="3886659" y="3934576"/>
            <a:ext cx="3538148" cy="523220"/>
          </a:xfrm>
          <a:prstGeom prst="rect">
            <a:avLst/>
          </a:prstGeom>
          <a:noFill/>
        </p:spPr>
        <p:txBody>
          <a:bodyPr wrap="none" rtlCol="0">
            <a:spAutoFit/>
          </a:bodyPr>
          <a:lstStyle/>
          <a:p>
            <a:r>
              <a:rPr lang="en-US" sz="2800" dirty="0">
                <a:solidFill>
                  <a:srgbClr val="FF0000"/>
                </a:solidFill>
              </a:rPr>
              <a:t>CSS and PS </a:t>
            </a:r>
            <a:r>
              <a:rPr lang="en-US" sz="2800" dirty="0" err="1">
                <a:solidFill>
                  <a:srgbClr val="FF0000"/>
                </a:solidFill>
              </a:rPr>
              <a:t>precoveries</a:t>
            </a:r>
            <a:endParaRPr lang="en-US" sz="2800" dirty="0">
              <a:solidFill>
                <a:srgbClr val="FF0000"/>
              </a:solidFill>
            </a:endParaRPr>
          </a:p>
        </p:txBody>
      </p:sp>
      <p:sp>
        <p:nvSpPr>
          <p:cNvPr id="2" name="Oval 1">
            <a:extLst>
              <a:ext uri="{FF2B5EF4-FFF2-40B4-BE49-F238E27FC236}">
                <a16:creationId xmlns:a16="http://schemas.microsoft.com/office/drawing/2014/main" id="{5F64EE1A-41F4-DA10-7C9D-2FD64F6BD01C}"/>
              </a:ext>
            </a:extLst>
          </p:cNvPr>
          <p:cNvSpPr/>
          <p:nvPr/>
        </p:nvSpPr>
        <p:spPr>
          <a:xfrm>
            <a:off x="3714044" y="25668"/>
            <a:ext cx="3928534" cy="1599932"/>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6F78E22-BE73-87D9-A3ED-411BF4C3C82E}"/>
              </a:ext>
            </a:extLst>
          </p:cNvPr>
          <p:cNvSpPr txBox="1"/>
          <p:nvPr/>
        </p:nvSpPr>
        <p:spPr>
          <a:xfrm>
            <a:off x="7642578" y="553156"/>
            <a:ext cx="2454903" cy="523220"/>
          </a:xfrm>
          <a:prstGeom prst="rect">
            <a:avLst/>
          </a:prstGeom>
          <a:noFill/>
        </p:spPr>
        <p:txBody>
          <a:bodyPr wrap="none" rtlCol="0">
            <a:spAutoFit/>
          </a:bodyPr>
          <a:lstStyle/>
          <a:p>
            <a:r>
              <a:rPr lang="en-US" sz="2800" dirty="0">
                <a:solidFill>
                  <a:srgbClr val="00B050"/>
                </a:solidFill>
              </a:rPr>
              <a:t>Torino Scale = 1</a:t>
            </a:r>
          </a:p>
        </p:txBody>
      </p:sp>
    </p:spTree>
    <p:extLst>
      <p:ext uri="{BB962C8B-B14F-4D97-AF65-F5344CB8AC3E}">
        <p14:creationId xmlns:p14="http://schemas.microsoft.com/office/powerpoint/2010/main" val="1361620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E0701E-0BEA-D88A-8FF6-48E12DC17C1C}"/>
              </a:ext>
            </a:extLst>
          </p:cNvPr>
          <p:cNvPicPr>
            <a:picLocks noChangeAspect="1"/>
          </p:cNvPicPr>
          <p:nvPr/>
        </p:nvPicPr>
        <p:blipFill>
          <a:blip r:embed="rId2"/>
          <a:stretch>
            <a:fillRect/>
          </a:stretch>
        </p:blipFill>
        <p:spPr>
          <a:xfrm>
            <a:off x="1254062" y="-1411"/>
            <a:ext cx="9683876" cy="6859412"/>
          </a:xfrm>
          <a:prstGeom prst="rect">
            <a:avLst/>
          </a:prstGeom>
        </p:spPr>
      </p:pic>
    </p:spTree>
    <p:extLst>
      <p:ext uri="{BB962C8B-B14F-4D97-AF65-F5344CB8AC3E}">
        <p14:creationId xmlns:p14="http://schemas.microsoft.com/office/powerpoint/2010/main" val="627187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BCE46F-6B1D-1CD6-2DBB-FC501BEF8E98}"/>
              </a:ext>
            </a:extLst>
          </p:cNvPr>
          <p:cNvPicPr>
            <a:picLocks noChangeAspect="1"/>
          </p:cNvPicPr>
          <p:nvPr/>
        </p:nvPicPr>
        <p:blipFill>
          <a:blip r:embed="rId2"/>
          <a:stretch>
            <a:fillRect/>
          </a:stretch>
        </p:blipFill>
        <p:spPr>
          <a:xfrm>
            <a:off x="1255059" y="-1411"/>
            <a:ext cx="9683874" cy="6859411"/>
          </a:xfrm>
          <a:prstGeom prst="rect">
            <a:avLst/>
          </a:prstGeom>
        </p:spPr>
      </p:pic>
    </p:spTree>
    <p:extLst>
      <p:ext uri="{BB962C8B-B14F-4D97-AF65-F5344CB8AC3E}">
        <p14:creationId xmlns:p14="http://schemas.microsoft.com/office/powerpoint/2010/main" val="305304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A73B09-C996-BDEF-FA20-2A20CD487B2E}"/>
              </a:ext>
            </a:extLst>
          </p:cNvPr>
          <p:cNvPicPr>
            <a:picLocks noChangeAspect="1"/>
          </p:cNvPicPr>
          <p:nvPr/>
        </p:nvPicPr>
        <p:blipFill>
          <a:blip r:embed="rId2"/>
          <a:stretch>
            <a:fillRect/>
          </a:stretch>
        </p:blipFill>
        <p:spPr>
          <a:xfrm>
            <a:off x="0" y="41366"/>
            <a:ext cx="12192000" cy="6775267"/>
          </a:xfrm>
          <a:prstGeom prst="rect">
            <a:avLst/>
          </a:prstGeom>
        </p:spPr>
      </p:pic>
    </p:spTree>
    <p:extLst>
      <p:ext uri="{BB962C8B-B14F-4D97-AF65-F5344CB8AC3E}">
        <p14:creationId xmlns:p14="http://schemas.microsoft.com/office/powerpoint/2010/main" val="1137132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5AA3C8-723F-52E2-AC2C-BF5A8E5573E2}"/>
              </a:ext>
            </a:extLst>
          </p:cNvPr>
          <p:cNvPicPr>
            <a:picLocks noChangeAspect="1"/>
          </p:cNvPicPr>
          <p:nvPr/>
        </p:nvPicPr>
        <p:blipFill>
          <a:blip r:embed="rId2"/>
          <a:stretch>
            <a:fillRect/>
          </a:stretch>
        </p:blipFill>
        <p:spPr>
          <a:xfrm>
            <a:off x="1253067" y="-1411"/>
            <a:ext cx="9685865" cy="6860821"/>
          </a:xfrm>
          <a:prstGeom prst="rect">
            <a:avLst/>
          </a:prstGeom>
        </p:spPr>
      </p:pic>
    </p:spTree>
    <p:extLst>
      <p:ext uri="{BB962C8B-B14F-4D97-AF65-F5344CB8AC3E}">
        <p14:creationId xmlns:p14="http://schemas.microsoft.com/office/powerpoint/2010/main" val="3511187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049117-6FB0-7AAB-CB08-9007C60BCC45}"/>
              </a:ext>
            </a:extLst>
          </p:cNvPr>
          <p:cNvPicPr>
            <a:picLocks noChangeAspect="1"/>
          </p:cNvPicPr>
          <p:nvPr/>
        </p:nvPicPr>
        <p:blipFill>
          <a:blip r:embed="rId2"/>
          <a:stretch>
            <a:fillRect/>
          </a:stretch>
        </p:blipFill>
        <p:spPr>
          <a:xfrm>
            <a:off x="1255059" y="6585"/>
            <a:ext cx="9672585" cy="6851415"/>
          </a:xfrm>
          <a:prstGeom prst="rect">
            <a:avLst/>
          </a:prstGeom>
        </p:spPr>
      </p:pic>
    </p:spTree>
    <p:extLst>
      <p:ext uri="{BB962C8B-B14F-4D97-AF65-F5344CB8AC3E}">
        <p14:creationId xmlns:p14="http://schemas.microsoft.com/office/powerpoint/2010/main" val="3157624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7954AF-73EF-EE7A-099E-B5616E46FAE8}"/>
              </a:ext>
            </a:extLst>
          </p:cNvPr>
          <p:cNvPicPr>
            <a:picLocks noChangeAspect="1"/>
          </p:cNvPicPr>
          <p:nvPr/>
        </p:nvPicPr>
        <p:blipFill>
          <a:blip r:embed="rId2"/>
          <a:stretch>
            <a:fillRect/>
          </a:stretch>
        </p:blipFill>
        <p:spPr>
          <a:xfrm>
            <a:off x="1255059" y="-1411"/>
            <a:ext cx="9683874" cy="6859411"/>
          </a:xfrm>
          <a:prstGeom prst="rect">
            <a:avLst/>
          </a:prstGeom>
        </p:spPr>
      </p:pic>
    </p:spTree>
    <p:extLst>
      <p:ext uri="{BB962C8B-B14F-4D97-AF65-F5344CB8AC3E}">
        <p14:creationId xmlns:p14="http://schemas.microsoft.com/office/powerpoint/2010/main" val="3437403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1021</TotalTime>
  <Words>518</Words>
  <Application>Microsoft Macintosh PowerPoint</Application>
  <PresentationFormat>Widescreen</PresentationFormat>
  <Paragraphs>49</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IAWN Rapid Characterization Campaign: 2023 DZ2 </vt:lpstr>
      <vt:lpstr>Overview</vt:lpstr>
      <vt:lpstr>Overview</vt:lpstr>
      <vt:lpstr>Logistics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Farnocchia, Davide (US 392R)</dc:creator>
  <cp:lastModifiedBy>Reddy, Vishnu - (vishnureddy)</cp:lastModifiedBy>
  <cp:revision>27</cp:revision>
  <dcterms:created xsi:type="dcterms:W3CDTF">2023-03-20T20:26:16Z</dcterms:created>
  <dcterms:modified xsi:type="dcterms:W3CDTF">2023-03-21T13:53:05Z</dcterms:modified>
</cp:coreProperties>
</file>